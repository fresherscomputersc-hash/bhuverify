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4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7600" b="1">
                <a:solidFill>
                  <a:srgbClr val="6FB8A4"/>
                </a:solidFill>
                <a:latin typeface="Segoe UI"/>
              </a:rPr>
              <a:t>भू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8FC9B8"/>
                </a:solidFill>
                <a:latin typeface="Segoe UI"/>
              </a:rPr>
              <a:t>SIH26018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8FC9B8"/>
                </a:solidFill>
                <a:latin typeface="Segoe UI"/>
              </a:rPr>
              <a:t>Smart Automation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FA897"/>
                </a:solidFill>
                <a:latin typeface="Segoe UI"/>
              </a:rPr>
              <a:t>Team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Merge 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0020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Segoe UI"/>
              </a:rPr>
              <a:t>BhuVerify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60604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C9E4DB"/>
                </a:solidFill>
                <a:latin typeface="Segoe UI"/>
              </a:rPr>
              <a:t>Intelligent Land Record Digitization and Validation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310128"/>
            <a:ext cx="137160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61188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D8ECE5"/>
                </a:solidFill>
                <a:latin typeface="Segoe UI"/>
              </a:rPr>
              <a:t>Not just OCR. BhuVerify reads legacy land records, validates them against ten named business rules, links them to cadastral maps, and keeps every AI decision auditable — while a government officer holds final authority.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5029200"/>
            <a:ext cx="1554480" cy="914400"/>
          </a:xfrm>
          <a:prstGeom prst="rect">
            <a:avLst/>
          </a:prstGeom>
          <a:solidFill>
            <a:srgbClr val="146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4336" y="513892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4336" y="5477256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A8D4C6"/>
                </a:solidFill>
                <a:latin typeface="Segoe UI"/>
              </a:rPr>
              <a:t>demo documents processed, zero failures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47104" y="5029200"/>
            <a:ext cx="1554480" cy="914400"/>
          </a:xfrm>
          <a:prstGeom prst="rect">
            <a:avLst/>
          </a:prstGeom>
          <a:solidFill>
            <a:srgbClr val="146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13892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6.5s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477256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A8D4C6"/>
                </a:solidFill>
                <a:latin typeface="Segoe UI"/>
              </a:rPr>
              <a:t>average pipeline, 10s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5029200"/>
            <a:ext cx="1554480" cy="914400"/>
          </a:xfrm>
          <a:prstGeom prst="rect">
            <a:avLst/>
          </a:prstGeom>
          <a:solidFill>
            <a:srgbClr val="146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513892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5477256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A8D4C6"/>
                </a:solidFill>
                <a:latin typeface="Segoe UI"/>
              </a:rPr>
              <a:t>mean extraction 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48672" y="5029200"/>
            <a:ext cx="1554480" cy="914400"/>
          </a:xfrm>
          <a:prstGeom prst="rect">
            <a:avLst/>
          </a:prstGeom>
          <a:solidFill>
            <a:srgbClr val="146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6688" y="513892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101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8" y="5477256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A8D4C6"/>
                </a:solidFill>
                <a:latin typeface="Segoe UI"/>
              </a:rPr>
              <a:t>automated tests passing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6071616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8FC9B8"/>
                </a:solidFill>
                <a:latin typeface="Segoe UI"/>
              </a:rPr>
              <a:t>Working prototype · real Tesseract OCR in English, Hindi and Odia · live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The problem: land records India still keeps on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Land records underpin ownership, taxation, acquisition, credit and dispute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6202E"/>
                </a:solidFill>
                <a:latin typeface="Segoe UI"/>
              </a:rPr>
              <a:t>What the records look like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Handwritten registers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77736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95220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decades of entries in Odia, Hindi and other 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26233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Faded and damaged scans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66609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584094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skewed, noisy, low contrast — hard for humans too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15107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Regional-language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5548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172968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labels and values in Indic 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503980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Text and maps kept apart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435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61841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RoR text and cadastral maps live in separate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092854"/>
            <a:ext cx="5358383" cy="2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6202E"/>
                </a:solidFill>
                <a:latin typeface="Segoe UI"/>
              </a:rPr>
              <a:t>Disconnected databases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3323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350715"/>
            <a:ext cx="5358383" cy="2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Bhulekh, BhuNaksha, IGR and LRMS never cross-check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103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6202E"/>
                </a:solidFill>
                <a:latin typeface="Segoe UI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76088"/>
            <a:ext cx="5577840" cy="10863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Segoe UI"/>
              </a:rPr>
              <a:t>Manual digitisation is slow and error-prone. One wrong khasra number or misspelt owner name can trigger a dispute, stall a mutation, corrupt a tax record or block acquisition — and the same OCR mistake repeats on every similar page.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371600"/>
            <a:ext cx="5120640" cy="3613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1371600"/>
            <a:ext cx="512064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1" y="143560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The manual workflow today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56831" y="190787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1828800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Officer opens or scans a physical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6831" y="224643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2167356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Reads faded handwriting by eye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6831" y="258499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2505913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Data-entry operator types every field by hand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6831" y="292354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2844469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Verification across separate files and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56831" y="326210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3183026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Cadastral maps checked in another application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6831" y="360066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3521583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Low-quality pages loop back for re-checking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6831" y="3939216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3860139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Supervisors compile progress reports by hand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56831" y="427777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4198696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Corrections are hard to trace after the fact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6831" y="461633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76288" y="4537252"/>
            <a:ext cx="457199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The same extraction errors repeat next batch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What BhuVerify is — and what it deliberately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A human-in-the-loop decision-support system, not an autonomous land registry.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225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356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BhuVerify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0787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Digitise — scans, handwriting, PDFs and map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4643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16735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Extract — 19 structured fields with per-field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58499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0591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Validate — ten named business rules with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92354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44469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Link — records to cadastral polygons by khasra/survey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26210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18302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Cross-check — Bhulekh, BhuNaksha, IGR, LGD and LRMS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14190"/>
            <a:ext cx="5486400" cy="25068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1419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78199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BhuVerify does not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350468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271391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Adjudicate — disputes are flagged, never resolved by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689024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09947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Change ownership — no autonomous title transfer, ever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027581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948504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Write back — not without formal approval of each 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366138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8706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Replace — it feeds LRMS and DILRMP, not supersedes them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704694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625617"/>
            <a:ext cx="4937759" cy="5308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Approve itself — every record needs an authorised reviewer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E6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554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F5C4A"/>
                </a:solidFill>
                <a:latin typeface="Segoe UI"/>
              </a:rPr>
              <a:t>THE DESIGN PRINCIPLE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874519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0F5C4A"/>
                </a:solidFill>
                <a:latin typeface="Segoe UI"/>
              </a:rPr>
              <a:t>Automate everything that is mechanical. Never automate the decision.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926080"/>
            <a:ext cx="4754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Land records are legally sensitive. An AI that quietly approves a wrong owner is worse than no AI at all.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So BhuVerify scores its own uncertainty, names the rule each finding came from, and refuses to let a critical finding be approved past. The officer sees the source image beside every extracted value and decides.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That refusal is enforced in the API, not the UI — the demo proves it with a live HTTP 409.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How it works: nine stages, one auditable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Each stage is instrumented and reports measurable output, not a black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047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904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99616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bulk upload, SHA-256 dedup, batch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4996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88236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88236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07107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00710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CV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0162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deskew, denoise, CLAHE, binarise, layout regions, stamp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20162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04872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04872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2374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52374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OCR / HTR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5328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Tesseract 5 with word-level confidence; separate handwriting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5328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21508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921508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4037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04037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Field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049524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label aliases + regex + NER-style scoring across 19 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304952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438144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438144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557015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557015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Confidence 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56616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OCR + pattern + label proximity + cross-field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5661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54779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54779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073651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073651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GIS linking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082795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Shapely polygon match on khasra/survey, area comparison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408279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471416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471416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5902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45902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4599431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BR-1…BR-10 with severity, evidence and suggested 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4599431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FR-6/7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988052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988052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10692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51069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Cross-database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511606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Bhulekh, BhuNaksha, IGR, LGD, LRMS checks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51160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504688"/>
            <a:ext cx="1106424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504688"/>
            <a:ext cx="384048" cy="4572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62355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56235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Human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5632703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correct / approve / reject / escalate, every step audited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5632703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FR-10/12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062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7B8798"/>
                </a:solidFill>
                <a:latin typeface="Segoe UI"/>
              </a:rPr>
              <a:t>Every stage writes to the audit trail — the officer can always ask "why did the system think that?" and get the evidence region and confidence that produced 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VALIDATION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Ten business rules, each with a name and a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A finding is never just a red flag — it names the rule, the conflicting values and the next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538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53896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Mandatory Field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0784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Ensures all required land record fields were extracted.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76672" y="1453896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1481328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1 hit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240279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240279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Sub-Plot Area Sum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487168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Child (sub-divided) plot areas must sum to the parent plot area.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76672" y="2240279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2267712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1 hit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44368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944368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026663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026663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Duplicate Survey/Khasra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273551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The same plot identifier must not be held by conflicting owners.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76672" y="3026663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6672" y="3054096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1 hit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30752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30752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81304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813048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Chronological Validity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059936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Mutation and registration dates must be parseable, in the past, and ordered.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6672" y="3813048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6672" y="3840480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1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17136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517136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599431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599431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Mutation Chain Continuity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846320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The previous owner of a mutation must match the prior record holder.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76672" y="4599431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6672" y="4626864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4 hit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137160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1371600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14538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1453896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Unit Normalisation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1700784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Local area units (acre/bigha/guntha/kanal/decimal) must convert to a standard unit.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00232" y="1453896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00232" y="1481328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1 hit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2157984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2157984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2240279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2240279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Village-Tehsil Master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2487168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Village / tehsil / district must exist in the administrative master and agree.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00232" y="2240279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00232" y="2267712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2 hit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2944368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2944368"/>
            <a:ext cx="50292" cy="713232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36792" y="3026663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F5C4A"/>
                </a:solidFill>
                <a:latin typeface="Segoe UI"/>
              </a:rPr>
              <a:t>BR-8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026663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Owner Fuzzy Match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3273551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Detects spelling variants of the same owner name across records.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3730752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3730752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36792" y="381304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0" y="3813048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Boundary / Spatial Consistency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6792" y="4059936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Recorded area must agree with the cadastral polygon area within tolerance.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000232" y="3813048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00232" y="3840480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2 hit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4517136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4517136"/>
            <a:ext cx="50292" cy="713232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36792" y="4599431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B02A37"/>
                </a:solidFill>
                <a:latin typeface="Segoe UI"/>
              </a:rPr>
              <a:t>BR-10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4599431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Registration Format Check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36792" y="4846320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A5A70"/>
                </a:solidFill>
                <a:latin typeface="Segoe UI"/>
              </a:rPr>
              <a:t>Registration reference must match the SRO reference pattern.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000232" y="4599431"/>
            <a:ext cx="512064" cy="219456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000232" y="4626864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1 hit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Every rule is unit-tested, including the cases that must not fire.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For example BR-4 must not read book number 3311 as a year, and BR-10 must not fail a valid reference just because a stamp fragment landed in the same OCR span. Both were real bugs found and fixed by the test-suite.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Live results from the running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Read from the API at http://localhost:8000 while building this deck — not typed in by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" cy="102412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961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DOCUMENTS PROCESSED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0784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4795F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all six demo records, zero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371600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371600"/>
            <a:ext cx="54864" cy="102412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49961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MEAN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1700784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4795F"/>
                </a:solidFill>
                <a:latin typeface="Segoe UI"/>
              </a:rPr>
              <a:t>85.2%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121408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field-level, per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1" y="1371600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1" y="1371600"/>
            <a:ext cx="54864" cy="1024128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49961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FINDINGS RAISED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700784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B02A37"/>
                </a:solidFill>
                <a:latin typeface="Segoe UI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121408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5 high or critical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5128" y="1371600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5128" y="1371600"/>
            <a:ext cx="54864" cy="102412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7" y="149961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GIS LINK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7" y="1700784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4795F"/>
                </a:solidFill>
                <a:latin typeface="Segoe U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7" y="2121408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6/6 records matched a polygon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523744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523744"/>
            <a:ext cx="54864" cy="10241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65176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AVG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852927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B8860B"/>
                </a:solidFill>
                <a:latin typeface="Segoe UI"/>
              </a:rPr>
              <a:t>6.5s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1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budget 10s · slowest 8.1s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4136" y="2523744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74136" y="2523744"/>
            <a:ext cx="54864" cy="102412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7016" y="265176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AUDIT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7016" y="2852927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4795F"/>
                </a:solidFill>
                <a:latin typeface="Segoe UI"/>
              </a:rPr>
              <a:t>147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7016" y="3273551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hash-chained, tamper-evident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1" y="2523744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1" y="2523744"/>
            <a:ext cx="54864" cy="102412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265176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CORRECTIONS CAPTURED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852927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4795F"/>
                </a:solidFill>
                <a:latin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3273551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labeled AI→human pairs for fine-tuning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5128" y="2523744"/>
            <a:ext cx="268833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5128" y="2523744"/>
            <a:ext cx="54864" cy="102412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08007" y="265176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7B8798"/>
                </a:solidFill>
                <a:latin typeface="Segoe UI"/>
              </a:rPr>
              <a:t>TEST SUITE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8007" y="2852927"/>
            <a:ext cx="23957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4795F"/>
                </a:solidFill>
                <a:latin typeface="Segoe UI"/>
              </a:rPr>
              <a:t>101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8007" y="3273551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7B8798"/>
                </a:solidFill>
                <a:latin typeface="Segoe UI"/>
              </a:rPr>
              <a:t>passing, incl. all 10 rules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B8798"/>
                </a:solidFill>
                <a:latin typeface="Segoe UI"/>
              </a:rPr>
              <a:t>FINDINGS BY 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18795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critical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00200" y="4242816"/>
            <a:ext cx="3291840" cy="155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00200" y="4242816"/>
            <a:ext cx="365760" cy="155448"/>
          </a:xfrm>
          <a:prstGeom prst="rect">
            <a:avLst/>
          </a:prstGeom>
          <a:solidFill>
            <a:srgbClr val="B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4187952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57200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0200" y="4626864"/>
            <a:ext cx="3291840" cy="155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00200" y="4626864"/>
            <a:ext cx="1463040" cy="155448"/>
          </a:xfrm>
          <a:prstGeom prst="rect">
            <a:avLst/>
          </a:prstGeom>
          <a:solidFill>
            <a:srgbClr val="D0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0" y="457200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95604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medium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00200" y="5010912"/>
            <a:ext cx="3291840" cy="155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00200" y="5010912"/>
            <a:ext cx="3291839" cy="1554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495604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3400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low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00200" y="5394959"/>
            <a:ext cx="3291840" cy="1554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0" y="53400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3749040"/>
            <a:ext cx="5669280" cy="215226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749040"/>
            <a:ext cx="566928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08192" y="3813048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What the demo dataset is built to prove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4278441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27648" y="4206240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DOC-002 · degraded scan → deskew engages + BR-10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4595509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27648" y="4523308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DOC-003 · handwritten Devanagari → HTR + correction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08192" y="491257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27648" y="4840376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DOC-004 · +53% area vs polygon → BR-9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5229645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7648" y="5157444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DOC-005 · conflicting owner → BR-3 critical → HTTP 409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554671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27648" y="5474512"/>
            <a:ext cx="5120640" cy="26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DOC-006 · sub-plots ≠ parent → BR-2, BR-1, BR-4, BR-7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LANGUAGE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Multilingual by construction, not by translation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The same extractor handles Latin, Devanagari and Odia scripts.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Language packs installed on this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097280" cy="566928"/>
          </a:xfrm>
          <a:prstGeom prst="rect">
            <a:avLst/>
          </a:prstGeom>
          <a:solidFill>
            <a:srgbClr val="E6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5C4A"/>
                </a:solidFill>
                <a:latin typeface="Segoe UI"/>
              </a:rPr>
              <a:t>eng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783080"/>
            <a:ext cx="1097280" cy="566928"/>
          </a:xfrm>
          <a:prstGeom prst="rect">
            <a:avLst/>
          </a:prstGeom>
          <a:solidFill>
            <a:srgbClr val="E6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947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5C4A"/>
                </a:solidFill>
                <a:latin typeface="Segoe UI"/>
              </a:rPr>
              <a:t>hin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783080"/>
            <a:ext cx="1097280" cy="566928"/>
          </a:xfrm>
          <a:prstGeom prst="rect">
            <a:avLst/>
          </a:prstGeom>
          <a:solidFill>
            <a:srgbClr val="E6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47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5C4A"/>
                </a:solidFill>
                <a:latin typeface="Segoe UI"/>
              </a:rPr>
              <a:t>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7B8798"/>
                </a:solidFill>
                <a:latin typeface="Segoe UI"/>
              </a:rPr>
              <a:t>Tesseract 5.5.0 · the prototype runs real OCR, not canned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6202E"/>
                </a:solidFill>
                <a:latin typeface="Segoe UI"/>
              </a:rPr>
              <a:t>How a Hindi register page is handled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429000"/>
            <a:ext cx="5175504" cy="247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Label aliases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5519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676116"/>
            <a:ext cx="5175504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खसरा / खाता / खातेदार map to the same field names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069537"/>
            <a:ext cx="5175504" cy="247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Master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95731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316653"/>
            <a:ext cx="5175504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Indic village spellings resolve so BR-7 validates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710074"/>
            <a:ext cx="5175504" cy="247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Handwriting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36268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957191"/>
            <a:ext cx="5175504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separate PSM sweep, honestly lower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350611"/>
            <a:ext cx="5175504" cy="247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Correction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76805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597728"/>
            <a:ext cx="5175504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mis-read names become labeled training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15361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F5C4A"/>
                </a:solidFill>
                <a:latin typeface="Segoe UI"/>
              </a:rPr>
              <a:t>WHY THIS IS THE HARD PART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828800"/>
            <a:ext cx="47548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Most OCR demos stop at reading Latin print. Indian land records do not look like that.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A page mixes printed Latin labels, handwritten Devanagari values, ruled tables, revenue stamps and faded paper. Reading it is only half the job — the extracted value still has to satisfy the same validation rules as an English record.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6202E"/>
                </a:solidFill>
                <a:latin typeface="Segoe UI"/>
              </a:rPr>
              <a:t>That is why the administrative master carries Indic aliases. Without them a Devanagari page would OCR correctly and then fail validation on every field — multilingual support in name only.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Production adds Marathi, Bengali, Telugu, Tamil and other state languages through the same adapter interface.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GIS +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Maps and auditability: the two things OCR demos skip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Text records linked to cadastral geometry, and a trail nobody can quietly edit.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225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356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GIS / cadastral linking (FR-9)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0787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12 polygons — sample cadastral layer, EPSG:4326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4643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16735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Matched on khasra → survey → plot number, in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58499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0591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Area computed from the polygon itself via Shapely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92354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44469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BR-9 fires beyond 15% polygon/record divergence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26210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18302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Neighbours within 400 m surfaced for disputes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5486400" cy="225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8620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502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Immutable audit trail (FR-12)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42247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4340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Hash-chained — each entry hashes the previous 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76103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8195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Tamper-evident — any edit breaks the chain, located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09959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02051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Complete — AI runs, corrections, approvals included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43814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359069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Old→new — both values + AI confidence kept per fix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77670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69762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Verifiable — the chain recomputes from the Audit tab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5361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F5C4A"/>
                </a:solidFill>
                <a:latin typeface="Segoe UI"/>
              </a:rPr>
              <a:t>THE APPROVAL GUARANTEE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82880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5C4A"/>
                </a:solidFill>
                <a:latin typeface="Segoe UI"/>
              </a:rPr>
              <a:t>A record with an open critical finding cannot be approved.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74320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This is enforced in the API, so no interface — ours or a future integration — can bypass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In the live demo, approving the duplicate-khasra record returns: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B02A37"/>
                </a:solidFill>
                <a:latin typeface="Segoe UI"/>
              </a:rPr>
              <a:t>HTTP 409 — Cannot approve: 1 critical discrepancy still open (BR-3). Resolve or reject instead.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16202E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A70"/>
                </a:solidFill>
                <a:latin typeface="Segoe UI"/>
              </a:rPr>
              <a:t>The officer can escalate it to the Tehsildar, reject it, or correct the underlying data. What they cannot do is wave it through.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Built to be handed over, not thrown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The prototype keeps the same contracts the pilot and production tiers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53896"/>
            <a:ext cx="1920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453896"/>
            <a:ext cx="2834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PROTOTYPE (TODAY)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7" y="1453896"/>
            <a:ext cx="2926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PILOT /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7" y="1453896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WHAT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11064240" cy="47548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65376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865376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7" y="1865376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PostgreSQL + PostGIS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7" y="186537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change the connection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40864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340864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in-process thread 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7" y="2340864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Redis / Celery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23408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stage names already 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88336"/>
            <a:ext cx="11064240" cy="47548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81635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2816352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Tesseract 5 (eng/hin/ori)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7" y="2816352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fine-tuned OCR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81635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word-token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63824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291840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HTR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291840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Tesseract + OpenCV 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7" y="329184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TrOCR / IndicHTR transformer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7" y="32918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WordToken contract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39312"/>
            <a:ext cx="11064240" cy="47548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767328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Layout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3767328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OpenCV heuristics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7" y="3767328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YOLO / Detectron2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7" y="37673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labelled-box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242816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External systems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4242816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deterministic mocks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7" y="4242816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read-only government APIs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7" y="42428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ExternalCheck contract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90288"/>
            <a:ext cx="11064240" cy="475488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18303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Auth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1488" y="4718303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seeded accounts + argon2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007" y="4718303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department SSO + MFA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7" y="4718303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routes only see a User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065776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5193792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6202E"/>
                </a:solidFill>
                <a:latin typeface="Segoe UI"/>
              </a:rPr>
              <a:t>GIS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1488" y="5193792"/>
            <a:ext cx="2834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sample GeoJSON + inline SVG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79007" y="5193792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GeoServer + PostGIS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193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A70"/>
                </a:solidFill>
                <a:latin typeface="Segoe UI"/>
              </a:rPr>
              <a:t>same polygon contract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Stack: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FastAPI · SQLAlchemy · OpenCV · Tesseract 5 · Shapely · rapidfuzz · argon2. The console is vanilla JS with no build step and no CDN dependencies, so it runs unchanged on an air-gapped government intranet.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From hackathon table to state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Three tiers, each with a concrete exit criterion rather than a wish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611880" cy="56692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Hackathon prototype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90472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14795F"/>
                </a:solidFill>
                <a:latin typeface="Segoe UI"/>
              </a:rPr>
              <a:t>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24479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148840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Real OCR in English, Hindi and Odia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53459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677820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19-field extraction with confidence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82439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206800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All ten business rules firing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1142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735781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Reviewer console + audit chain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4040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264761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Sample cadastral layer + SVG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69381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793742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101 automated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137160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1371600"/>
            <a:ext cx="3611880" cy="5669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46304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164592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District pilot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1490472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517904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B8860B"/>
                </a:solidFill>
                <a:latin typeface="Segoe UI"/>
              </a:rPr>
              <a:t>NEXT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2224479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2148840"/>
            <a:ext cx="3072384" cy="509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Real district records, GPU-backed OCR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2989831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5736" y="2914192"/>
            <a:ext cx="3072384" cy="509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Department SSO + district data scoping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80" y="3755184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5736" y="3679545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Read-only Bhulekh / BhuNaksha links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4284165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5736" y="420852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Fine-tune OCR/NER on corrections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6280" y="4813145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5736" y="473750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Multi-user review workflow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5342125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526648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Centralised logging and monitoring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137160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1371600"/>
            <a:ext cx="3611880" cy="566928"/>
          </a:xfrm>
          <a:prstGeom prst="rect">
            <a:avLst/>
          </a:prstGeom>
          <a:solidFill>
            <a:srgbClr val="7B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146304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164592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State / national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0" y="1490472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0" y="1517904"/>
            <a:ext cx="621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7B8798"/>
                </a:solidFill>
                <a:latin typeface="Segoe UI"/>
              </a:rPr>
              <a:t>TARGET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2224479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0496" y="2148840"/>
            <a:ext cx="3072384" cy="509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Multi-district, multi-language rollout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2989831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0496" y="2914192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Full LRMS / DILRMP 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3518812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0496" y="3443173"/>
            <a:ext cx="3072384" cy="509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PostGIS + GeoServer cadastral serving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4284165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0496" y="420852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Governed write-back where approved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813145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0496" y="473750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DPDP-compliant data handling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5342125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0496" y="5266486"/>
            <a:ext cx="3072384" cy="27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National-level MIS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27432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795F"/>
                </a:solidFill>
                <a:latin typeface="Segoe U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16202E"/>
                </a:solidFill>
                <a:latin typeface="Segoe UI"/>
              </a:rPr>
              <a:t>Impact: what changes for citizens and for the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B8798"/>
                </a:solidFill>
                <a:latin typeface="Segoe UI"/>
              </a:rPr>
              <a:t>The mechanism is fewer manual keystrokes; the outcome is fewer disputes.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225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356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For citizens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0787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2880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Faster mutations — less time to an updated record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4643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16735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Fewer errors — validation catches what operators miss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58499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0591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Fewer disputes — conflicting owners surfaced early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92354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44469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Transparency — verified record with a traceable history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26210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18302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Better services — clean data unblocks credit &amp; schemes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5486400" cy="25068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5486400" cy="32918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044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6202E"/>
                </a:solidFill>
                <a:latin typeface="Segoe UI"/>
              </a:rPr>
              <a:t>For the department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37675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297680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Workload — officers verify instead of transcribing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715313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36236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Monitoring — live MIS on progress and reviewer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05387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97479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Auditability — every action attributable and reversible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392427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313349"/>
            <a:ext cx="4937759" cy="5308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DILRMP alignment — records become digitised, geo-referenced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978100"/>
            <a:ext cx="64008" cy="64008"/>
          </a:xfrm>
          <a:prstGeom prst="rect">
            <a:avLst/>
          </a:prstGeom>
          <a:solidFill>
            <a:srgbClr val="14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899023"/>
            <a:ext cx="4937759" cy="283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A70"/>
                </a:solidFill>
                <a:latin typeface="Segoe UI"/>
              </a:rPr>
              <a:t>Institutional memory — corrections become training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E6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5361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F5C4A"/>
                </a:solidFill>
                <a:latin typeface="Segoe UI"/>
              </a:rPr>
              <a:t>MEASURED ON THIS PROTOTYPE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920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0F5C4A"/>
                </a:solidFill>
                <a:latin typeface="Segoe UI"/>
              </a:rPr>
              <a:t>6.5s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195681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to take a scan from upload to a validated, GIS-linked, review-ready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880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0F5C4A"/>
                </a:solidFill>
                <a:latin typeface="Segoe UI"/>
              </a:rPr>
              <a:t>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91693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mean extraction confidence before any human touches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840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0F5C4A"/>
                </a:solidFill>
                <a:latin typeface="Segoe UI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387705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issues caught automatically across 6 documents — none found by a human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8006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0F5C4A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83717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A70"/>
                </a:solidFill>
                <a:latin typeface="Segoe UI"/>
              </a:rPr>
              <a:t>critical title conflict caught that a manual workflow would likely have missed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760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F5C4A"/>
                </a:solidFill>
                <a:latin typeface="Segoe UI"/>
              </a:rPr>
              <a:t>Target for pilot: 70–80% reduction in manual digitisation effort.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BhuVerify · SIH26018 · Team Merge Conflict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B879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28016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BhuVerify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D8ECE5"/>
                </a:solidFill>
                <a:latin typeface="Segoe UI"/>
              </a:rPr>
              <a:t>We did not build an OCR demo. We built the verification layer that sits between a scanned register and a land record a citizen can rely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37560"/>
            <a:ext cx="73152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64408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genuine Tesseract OCR in three scripts on rendered documents, not canned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86199"/>
            <a:ext cx="73152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9475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honest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813047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confidence is computed and shown; handwritten pages score lower, as they should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34840"/>
            <a:ext cx="73152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361688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critical findings block approval server-side; a human always decides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83479"/>
            <a:ext cx="73152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accountable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910327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every AI decision and human correction is in a tamper-evident 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19"/>
            <a:ext cx="73152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4067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It is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458967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C9E4DB"/>
                </a:solidFill>
                <a:latin typeface="Segoe UI"/>
              </a:rPr>
              <a:t>contracts already match the pilot tier; 101 tests guard the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8FC9B8"/>
                </a:solidFill>
                <a:latin typeface="Segoe UI"/>
              </a:rPr>
              <a:t>SIH26018 · Smart Automation · Team Merge Conflict · working prototype available for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