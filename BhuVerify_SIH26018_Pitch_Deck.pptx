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0B45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3108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7600" b="1">
                <a:solidFill>
                  <a:srgbClr val="6FB8A4"/>
                </a:solidFill>
                <a:latin typeface="Segoe UI"/>
              </a:rPr>
              <a:t>भू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880360"/>
            <a:ext cx="3108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8FC9B8"/>
                </a:solidFill>
                <a:latin typeface="Segoe UI"/>
              </a:rPr>
              <a:t>SIH26018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8FC9B8"/>
                </a:solidFill>
                <a:latin typeface="Segoe UI"/>
              </a:rPr>
              <a:t>Smart Automation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>
                <a:solidFill>
                  <a:srgbClr val="16202E"/>
                </a:solidFill>
                <a:latin typeface="Segoe UI"/>
              </a:rPr>
              <a:t> 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6FA897"/>
                </a:solidFill>
                <a:latin typeface="Segoe UI"/>
              </a:rPr>
              <a:t>Team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Shadow Slayers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0" y="1600200"/>
            <a:ext cx="67665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5800" b="1">
                <a:solidFill>
                  <a:srgbClr val="FFFFFF"/>
                </a:solidFill>
                <a:latin typeface="Segoe UI"/>
              </a:rPr>
              <a:t>BhuVerify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2606040"/>
            <a:ext cx="6675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0">
                <a:solidFill>
                  <a:srgbClr val="C9E4DB"/>
                </a:solidFill>
                <a:latin typeface="Segoe UI"/>
              </a:rPr>
              <a:t>Intelligent Land Record Digitization and Validation System</a:t>
            </a:r>
          </a:p>
        </p:txBody>
      </p:sp>
      <p:sp>
        <p:nvSpPr>
          <p:cNvPr id="8" name="Rectangle 7"/>
          <p:cNvSpPr/>
          <p:nvPr/>
        </p:nvSpPr>
        <p:spPr>
          <a:xfrm>
            <a:off x="4846320" y="3310128"/>
            <a:ext cx="1371600" cy="4114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0" y="3611880"/>
            <a:ext cx="65836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0">
                <a:solidFill>
                  <a:srgbClr val="D8ECE5"/>
                </a:solidFill>
                <a:latin typeface="Segoe UI"/>
              </a:rPr>
              <a:t>Not just OCR. BhuVerify reads legacy land records, validates them against ten named business rules, links them to cadastral maps, and keeps every AI decision auditable — while a government officer holds final authority.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46320" y="5029200"/>
            <a:ext cx="1554480" cy="914400"/>
          </a:xfrm>
          <a:prstGeom prst="rect">
            <a:avLst/>
          </a:prstGeom>
          <a:solidFill>
            <a:srgbClr val="146B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336" y="5138928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74336" y="5477256"/>
            <a:ext cx="1325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50" b="0">
                <a:solidFill>
                  <a:srgbClr val="A8D4C6"/>
                </a:solidFill>
                <a:latin typeface="Segoe UI"/>
              </a:rPr>
              <a:t>demo documents processed, zero failures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47104" y="5029200"/>
            <a:ext cx="1554480" cy="914400"/>
          </a:xfrm>
          <a:prstGeom prst="rect">
            <a:avLst/>
          </a:prstGeom>
          <a:solidFill>
            <a:srgbClr val="146B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5138928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Segoe UI"/>
              </a:rPr>
              <a:t>13.2s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5477256"/>
            <a:ext cx="1325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50" b="0">
                <a:solidFill>
                  <a:srgbClr val="A8D4C6"/>
                </a:solidFill>
                <a:latin typeface="Segoe UI"/>
              </a:rPr>
              <a:t>average pipeline, 10s budget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47888" y="5029200"/>
            <a:ext cx="1554480" cy="914400"/>
          </a:xfrm>
          <a:prstGeom prst="rect">
            <a:avLst/>
          </a:prstGeom>
          <a:solidFill>
            <a:srgbClr val="146B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75904" y="5138928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Segoe UI"/>
              </a:rPr>
              <a:t>72%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75904" y="5477256"/>
            <a:ext cx="1325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50" b="0">
                <a:solidFill>
                  <a:srgbClr val="A8D4C6"/>
                </a:solidFill>
                <a:latin typeface="Segoe UI"/>
              </a:rPr>
              <a:t>mean extraction confidence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948672" y="5029200"/>
            <a:ext cx="1554480" cy="914400"/>
          </a:xfrm>
          <a:prstGeom prst="rect">
            <a:avLst/>
          </a:prstGeom>
          <a:solidFill>
            <a:srgbClr val="146B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76688" y="5138928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Segoe UI"/>
              </a:rPr>
              <a:t>101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76688" y="5477256"/>
            <a:ext cx="1325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50" b="0">
                <a:solidFill>
                  <a:srgbClr val="A8D4C6"/>
                </a:solidFill>
                <a:latin typeface="Segoe UI"/>
              </a:rPr>
              <a:t>automated tests passing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0" y="6071616"/>
            <a:ext cx="6675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8FC9B8"/>
                </a:solidFill>
                <a:latin typeface="Segoe UI"/>
              </a:rPr>
              <a:t>Working prototype · real Tesseract OCR in English, Hindi and Odia · live demo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27432"/>
          </a:xfrm>
          <a:prstGeom prst="rect">
            <a:avLst/>
          </a:prstGeom>
          <a:solidFill>
            <a:srgbClr val="0A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062A63"/>
                </a:solidFill>
                <a:latin typeface="Segoe UI"/>
              </a:rPr>
              <a:t>PROBLEM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500" b="1">
                <a:solidFill>
                  <a:srgbClr val="16202E"/>
                </a:solidFill>
                <a:latin typeface="Segoe UI"/>
              </a:rPr>
              <a:t>The problem: land records India still keeps on paper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8638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7B8798"/>
                </a:solidFill>
                <a:latin typeface="Segoe UI"/>
              </a:rPr>
              <a:t>Land records underpin ownership, taxation, acquisition, credit and dispute resolution.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1">
                <a:solidFill>
                  <a:srgbClr val="16202E"/>
                </a:solidFill>
                <a:latin typeface="Segoe UI"/>
              </a:rPr>
              <a:t>What the records look like today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1737360"/>
            <a:ext cx="5358383" cy="257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16202E"/>
                </a:solidFill>
                <a:latin typeface="Segoe UI"/>
              </a:rPr>
              <a:t>Handwritten registers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77736"/>
            <a:ext cx="64008" cy="64008"/>
          </a:xfrm>
          <a:prstGeom prst="rect">
            <a:avLst/>
          </a:prstGeom>
          <a:solidFill>
            <a:srgbClr val="06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995220"/>
            <a:ext cx="5358383" cy="2944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A5A70"/>
                </a:solidFill>
                <a:latin typeface="Segoe UI"/>
              </a:rPr>
              <a:t>decades of entries in Odia, Hindi and other scripts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326233"/>
            <a:ext cx="5358383" cy="257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16202E"/>
                </a:solidFill>
                <a:latin typeface="Segoe UI"/>
              </a:rPr>
              <a:t>Faded and damaged scans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666609"/>
            <a:ext cx="64008" cy="64008"/>
          </a:xfrm>
          <a:prstGeom prst="rect">
            <a:avLst/>
          </a:prstGeom>
          <a:solidFill>
            <a:srgbClr val="06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584094"/>
            <a:ext cx="5358383" cy="2944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A5A70"/>
                </a:solidFill>
                <a:latin typeface="Segoe UI"/>
              </a:rPr>
              <a:t>skewed, noisy, low contrast — hard for humans too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2915107"/>
            <a:ext cx="5358383" cy="257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16202E"/>
                </a:solidFill>
                <a:latin typeface="Segoe UI"/>
              </a:rPr>
              <a:t>Regional-language documents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255483"/>
            <a:ext cx="64008" cy="64008"/>
          </a:xfrm>
          <a:prstGeom prst="rect">
            <a:avLst/>
          </a:prstGeom>
          <a:solidFill>
            <a:srgbClr val="06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172968"/>
            <a:ext cx="5358383" cy="2944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A5A70"/>
                </a:solidFill>
                <a:latin typeface="Segoe UI"/>
              </a:rPr>
              <a:t>labels and values in Indic scripts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3503980"/>
            <a:ext cx="5358383" cy="257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16202E"/>
                </a:solidFill>
                <a:latin typeface="Segoe UI"/>
              </a:rPr>
              <a:t>Text and maps kept apart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844357"/>
            <a:ext cx="64008" cy="64008"/>
          </a:xfrm>
          <a:prstGeom prst="rect">
            <a:avLst/>
          </a:prstGeom>
          <a:solidFill>
            <a:srgbClr val="06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761841"/>
            <a:ext cx="5358383" cy="2944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A5A70"/>
                </a:solidFill>
                <a:latin typeface="Segoe UI"/>
              </a:rPr>
              <a:t>RoR text and cadastral maps live in separate systems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" y="4092854"/>
            <a:ext cx="5358383" cy="257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16202E"/>
                </a:solidFill>
                <a:latin typeface="Segoe UI"/>
              </a:rPr>
              <a:t>Disconnected databases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433230"/>
            <a:ext cx="64008" cy="64008"/>
          </a:xfrm>
          <a:prstGeom prst="rect">
            <a:avLst/>
          </a:prstGeom>
          <a:solidFill>
            <a:srgbClr val="06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" y="4350715"/>
            <a:ext cx="5358383" cy="2944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A5A70"/>
                </a:solidFill>
                <a:latin typeface="Segoe UI"/>
              </a:rPr>
              <a:t>Bhulekh, BhuNaksha, IGR and LRMS never cross-check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910328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1">
                <a:solidFill>
                  <a:srgbClr val="16202E"/>
                </a:solidFill>
                <a:latin typeface="Segoe UI"/>
              </a:rPr>
              <a:t>Why it matters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276088"/>
            <a:ext cx="5577840" cy="10863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4A5A70"/>
                </a:solidFill>
                <a:latin typeface="Segoe UI"/>
              </a:rPr>
              <a:t>Manual digitisation is slow and error-prone. One wrong khasra number or misspelt owner name can trigger a dispute, stall a mutation, corrupt a tax record or block acquisition — and the same OCR mistake repeats on every similar page.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92240" y="1371600"/>
            <a:ext cx="5120640" cy="3613937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92240" y="1371600"/>
            <a:ext cx="5120640" cy="329184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56831" y="1435608"/>
            <a:ext cx="4846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1">
                <a:solidFill>
                  <a:srgbClr val="16202E"/>
                </a:solidFill>
                <a:latin typeface="Segoe UI"/>
              </a:rPr>
              <a:t>The manual workflow today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56831" y="1907877"/>
            <a:ext cx="64008" cy="64008"/>
          </a:xfrm>
          <a:prstGeom prst="rect">
            <a:avLst/>
          </a:prstGeom>
          <a:solidFill>
            <a:srgbClr val="06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76288" y="1828800"/>
            <a:ext cx="4571999" cy="2836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4A5A70"/>
                </a:solidFill>
                <a:latin typeface="Segoe UI"/>
              </a:rPr>
              <a:t>Officer opens or scans a physical register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56831" y="2246433"/>
            <a:ext cx="64008" cy="64008"/>
          </a:xfrm>
          <a:prstGeom prst="rect">
            <a:avLst/>
          </a:prstGeom>
          <a:solidFill>
            <a:srgbClr val="06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76288" y="2167356"/>
            <a:ext cx="4571999" cy="2836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4A5A70"/>
                </a:solidFill>
                <a:latin typeface="Segoe UI"/>
              </a:rPr>
              <a:t>Reads faded handwriting by eye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56831" y="2584990"/>
            <a:ext cx="64008" cy="64008"/>
          </a:xfrm>
          <a:prstGeom prst="rect">
            <a:avLst/>
          </a:prstGeom>
          <a:solidFill>
            <a:srgbClr val="06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76288" y="2505913"/>
            <a:ext cx="4571999" cy="2836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4A5A70"/>
                </a:solidFill>
                <a:latin typeface="Segoe UI"/>
              </a:rPr>
              <a:t>Data-entry operator types every field by hand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656831" y="2923547"/>
            <a:ext cx="64008" cy="64008"/>
          </a:xfrm>
          <a:prstGeom prst="rect">
            <a:avLst/>
          </a:prstGeom>
          <a:solidFill>
            <a:srgbClr val="06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76288" y="2844469"/>
            <a:ext cx="4571999" cy="2836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4A5A70"/>
                </a:solidFill>
                <a:latin typeface="Segoe UI"/>
              </a:rPr>
              <a:t>Verification across separate files and systems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56831" y="3262103"/>
            <a:ext cx="64008" cy="64008"/>
          </a:xfrm>
          <a:prstGeom prst="rect">
            <a:avLst/>
          </a:prstGeom>
          <a:solidFill>
            <a:srgbClr val="06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76288" y="3183026"/>
            <a:ext cx="4571999" cy="2836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4A5A70"/>
                </a:solidFill>
                <a:latin typeface="Segoe UI"/>
              </a:rPr>
              <a:t>Cadastral maps checked in another application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656831" y="3600660"/>
            <a:ext cx="64008" cy="64008"/>
          </a:xfrm>
          <a:prstGeom prst="rect">
            <a:avLst/>
          </a:prstGeom>
          <a:solidFill>
            <a:srgbClr val="06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76288" y="3521583"/>
            <a:ext cx="4571999" cy="2836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4A5A70"/>
                </a:solidFill>
                <a:latin typeface="Segoe UI"/>
              </a:rPr>
              <a:t>Low-quality pages loop back for re-checking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656831" y="3939216"/>
            <a:ext cx="64008" cy="64008"/>
          </a:xfrm>
          <a:prstGeom prst="rect">
            <a:avLst/>
          </a:prstGeom>
          <a:solidFill>
            <a:srgbClr val="06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76288" y="3860139"/>
            <a:ext cx="4571999" cy="2836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4A5A70"/>
                </a:solidFill>
                <a:latin typeface="Segoe UI"/>
              </a:rPr>
              <a:t>Supervisors compile progress reports by hand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656831" y="4277773"/>
            <a:ext cx="64008" cy="64008"/>
          </a:xfrm>
          <a:prstGeom prst="rect">
            <a:avLst/>
          </a:prstGeom>
          <a:solidFill>
            <a:srgbClr val="06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76288" y="4198696"/>
            <a:ext cx="4571999" cy="2836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4A5A70"/>
                </a:solidFill>
                <a:latin typeface="Segoe UI"/>
              </a:rPr>
              <a:t>Corrections are hard to trace after the fact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656831" y="4616330"/>
            <a:ext cx="64008" cy="64008"/>
          </a:xfrm>
          <a:prstGeom prst="rect">
            <a:avLst/>
          </a:prstGeom>
          <a:solidFill>
            <a:srgbClr val="06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876288" y="4537252"/>
            <a:ext cx="4571999" cy="2836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4A5A70"/>
                </a:solidFill>
                <a:latin typeface="Segoe UI"/>
              </a:rPr>
              <a:t>The same extraction errors repeat next batch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644652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B8798"/>
                </a:solidFill>
                <a:latin typeface="Segoe UI"/>
              </a:rPr>
              <a:t>BhuVerify · SIH26018 · Team Shadow Slayers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789920" y="644652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B8798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27432"/>
          </a:xfrm>
          <a:prstGeom prst="rect">
            <a:avLst/>
          </a:prstGeom>
          <a:solidFill>
            <a:srgbClr val="0A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062A63"/>
                </a:solidFill>
                <a:latin typeface="Segoe UI"/>
              </a:rPr>
              <a:t>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500" b="1">
                <a:solidFill>
                  <a:srgbClr val="16202E"/>
                </a:solidFill>
                <a:latin typeface="Segoe UI"/>
              </a:rPr>
              <a:t>What BhuVerify is — and what it deliberately is not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8638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7B8798"/>
                </a:solidFill>
                <a:latin typeface="Segoe UI"/>
              </a:rPr>
              <a:t>A human-in-the-loop decision-support system, not an autonomous land registry.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5486400" cy="2259711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371600"/>
            <a:ext cx="5486400" cy="329184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435608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1">
                <a:solidFill>
                  <a:srgbClr val="16202E"/>
                </a:solidFill>
                <a:latin typeface="Segoe UI"/>
              </a:rPr>
              <a:t>BhuVerify does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" y="1907877"/>
            <a:ext cx="64008" cy="64008"/>
          </a:xfrm>
          <a:prstGeom prst="rect">
            <a:avLst/>
          </a:prstGeom>
          <a:solidFill>
            <a:srgbClr val="06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1828800"/>
            <a:ext cx="4937759" cy="2836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4A5A70"/>
                </a:solidFill>
                <a:latin typeface="Segoe UI"/>
              </a:rPr>
              <a:t>Digitise — scans, handwriting, PDFs and map images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" y="2246433"/>
            <a:ext cx="64008" cy="64008"/>
          </a:xfrm>
          <a:prstGeom prst="rect">
            <a:avLst/>
          </a:prstGeom>
          <a:solidFill>
            <a:srgbClr val="06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2167356"/>
            <a:ext cx="4937759" cy="2836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4A5A70"/>
                </a:solidFill>
                <a:latin typeface="Segoe UI"/>
              </a:rPr>
              <a:t>Extract — 19 structured fields with per-field confidence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2584990"/>
            <a:ext cx="64008" cy="64008"/>
          </a:xfrm>
          <a:prstGeom prst="rect">
            <a:avLst/>
          </a:prstGeom>
          <a:solidFill>
            <a:srgbClr val="06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2505913"/>
            <a:ext cx="4937759" cy="2836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4A5A70"/>
                </a:solidFill>
                <a:latin typeface="Segoe UI"/>
              </a:rPr>
              <a:t>Validate — ten named business rules with evidence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3232" y="2923547"/>
            <a:ext cx="64008" cy="64008"/>
          </a:xfrm>
          <a:prstGeom prst="rect">
            <a:avLst/>
          </a:prstGeom>
          <a:solidFill>
            <a:srgbClr val="06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2844469"/>
            <a:ext cx="4937759" cy="2836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4A5A70"/>
                </a:solidFill>
                <a:latin typeface="Segoe UI"/>
              </a:rPr>
              <a:t>Link — records to cadastral polygons by khasra/survey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3262103"/>
            <a:ext cx="64008" cy="64008"/>
          </a:xfrm>
          <a:prstGeom prst="rect">
            <a:avLst/>
          </a:prstGeom>
          <a:solidFill>
            <a:srgbClr val="06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3183026"/>
            <a:ext cx="4937759" cy="2836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4A5A70"/>
                </a:solidFill>
                <a:latin typeface="Segoe UI"/>
              </a:rPr>
              <a:t>Cross-check — Bhulekh, BhuNaksha, IGR, LGD and LRMS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814190"/>
            <a:ext cx="5486400" cy="2506827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3814190"/>
            <a:ext cx="5486400" cy="329184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3232" y="3878199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1">
                <a:solidFill>
                  <a:srgbClr val="16202E"/>
                </a:solidFill>
                <a:latin typeface="Segoe UI"/>
              </a:rPr>
              <a:t>BhuVerify does not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3232" y="4350468"/>
            <a:ext cx="64008" cy="64008"/>
          </a:xfrm>
          <a:prstGeom prst="rect">
            <a:avLst/>
          </a:prstGeom>
          <a:solidFill>
            <a:srgbClr val="06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4271391"/>
            <a:ext cx="4937759" cy="2836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4A5A70"/>
                </a:solidFill>
                <a:latin typeface="Segoe UI"/>
              </a:rPr>
              <a:t>Adjudicate — disputes are flagged, never resolved by AI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13232" y="4689024"/>
            <a:ext cx="64008" cy="64008"/>
          </a:xfrm>
          <a:prstGeom prst="rect">
            <a:avLst/>
          </a:prstGeom>
          <a:solidFill>
            <a:srgbClr val="06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4609947"/>
            <a:ext cx="4937759" cy="2836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4A5A70"/>
                </a:solidFill>
                <a:latin typeface="Segoe UI"/>
              </a:rPr>
              <a:t>Change ownership — no autonomous title transfer, ever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3232" y="5027581"/>
            <a:ext cx="64008" cy="64008"/>
          </a:xfrm>
          <a:prstGeom prst="rect">
            <a:avLst/>
          </a:prstGeom>
          <a:solidFill>
            <a:srgbClr val="06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" y="4948504"/>
            <a:ext cx="4937759" cy="2836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4A5A70"/>
                </a:solidFill>
                <a:latin typeface="Segoe UI"/>
              </a:rPr>
              <a:t>Write back — not without formal approval of each system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13232" y="5366138"/>
            <a:ext cx="64008" cy="64008"/>
          </a:xfrm>
          <a:prstGeom prst="rect">
            <a:avLst/>
          </a:prstGeom>
          <a:solidFill>
            <a:srgbClr val="06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287060"/>
            <a:ext cx="4937759" cy="2836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4A5A70"/>
                </a:solidFill>
                <a:latin typeface="Segoe UI"/>
              </a:rPr>
              <a:t>Replace — it feeds LRMS and DILRMP, not supersedes them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13232" y="5704694"/>
            <a:ext cx="64008" cy="64008"/>
          </a:xfrm>
          <a:prstGeom prst="rect">
            <a:avLst/>
          </a:prstGeom>
          <a:solidFill>
            <a:srgbClr val="06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5625617"/>
            <a:ext cx="4937759" cy="5308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4A5A70"/>
                </a:solidFill>
                <a:latin typeface="Segoe UI"/>
              </a:rPr>
              <a:t>Approve itself — every record needs an authorised reviewer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1371600"/>
            <a:ext cx="5212080" cy="4754880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29400" y="15544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0A3D91"/>
                </a:solidFill>
                <a:latin typeface="Segoe UI"/>
              </a:rPr>
              <a:t>THE DESIGN PRINCIPLE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1874519"/>
            <a:ext cx="4754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900" b="1">
                <a:solidFill>
                  <a:srgbClr val="0A3D91"/>
                </a:solidFill>
                <a:latin typeface="Segoe UI"/>
              </a:rPr>
              <a:t>Automate everything that is mechanical. Never automate the decision.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29400" y="2926080"/>
            <a:ext cx="475488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4A5A70"/>
                </a:solidFill>
                <a:latin typeface="Segoe UI"/>
              </a:rPr>
              <a:t>Land records are legally sensitive. An AI that quietly approves a wrong owner is worse than no AI at all.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600" b="0">
                <a:solidFill>
                  <a:srgbClr val="16202E"/>
                </a:solidFill>
                <a:latin typeface="Segoe UI"/>
              </a:rPr>
              <a:t> 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4A5A70"/>
                </a:solidFill>
                <a:latin typeface="Segoe UI"/>
              </a:rPr>
              <a:t>So BhuVerify scores its own uncertainty, names the rule each finding came from, and refuses to let a critical finding be approved past. The officer sees the source image beside every extracted value and decides.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600" b="0">
                <a:solidFill>
                  <a:srgbClr val="16202E"/>
                </a:solidFill>
                <a:latin typeface="Segoe UI"/>
              </a:rPr>
              <a:t> 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16202E"/>
                </a:solidFill>
                <a:latin typeface="Segoe UI"/>
              </a:rPr>
              <a:t>That refusal is enforced in the API, not the UI — the demo proves it with a live HTTP 409.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44652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B8798"/>
                </a:solidFill>
                <a:latin typeface="Segoe UI"/>
              </a:rPr>
              <a:t>BhuVerify · SIH26018 · Team Shadow Slayers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789920" y="644652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B8798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27432"/>
          </a:xfrm>
          <a:prstGeom prst="rect">
            <a:avLst/>
          </a:prstGeom>
          <a:solidFill>
            <a:srgbClr val="0A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062A63"/>
                </a:solidFill>
                <a:latin typeface="Segoe UI"/>
              </a:rPr>
              <a:t>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500" b="1">
                <a:solidFill>
                  <a:srgbClr val="16202E"/>
                </a:solidFill>
                <a:latin typeface="Segoe UI"/>
              </a:rPr>
              <a:t>How it works: nine stages, one auditable 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8638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7B8798"/>
                </a:solidFill>
                <a:latin typeface="Segoe UI"/>
              </a:rPr>
              <a:t>Each stage is instrumented and reports measurable output, not a black box.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solidFill>
            <a:srgbClr val="F7F9FB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371600"/>
            <a:ext cx="384048" cy="457200"/>
          </a:xfrm>
          <a:prstGeom prst="rect">
            <a:avLst/>
          </a:prstGeom>
          <a:solidFill>
            <a:srgbClr val="0A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490472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149047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16202E"/>
                </a:solidFill>
                <a:latin typeface="Segoe UI"/>
              </a:rPr>
              <a:t>Ingestion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1499616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4A5A70"/>
                </a:solidFill>
                <a:latin typeface="Segoe UI"/>
              </a:rPr>
              <a:t>bulk upload, SHA-256 dedup, batch tracking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1499616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062A63"/>
                </a:solidFill>
                <a:latin typeface="Segoe UI"/>
              </a:rPr>
              <a:t>FR-1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1888236"/>
            <a:ext cx="1106424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1888236"/>
            <a:ext cx="384048" cy="457200"/>
          </a:xfrm>
          <a:prstGeom prst="rect">
            <a:avLst/>
          </a:prstGeom>
          <a:solidFill>
            <a:srgbClr val="0A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007107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2007107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16202E"/>
                </a:solidFill>
                <a:latin typeface="Segoe UI"/>
              </a:rPr>
              <a:t>CV preprocessing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20162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4A5A70"/>
                </a:solidFill>
                <a:latin typeface="Segoe UI"/>
              </a:rPr>
              <a:t>deskew, denoise, CLAHE, binarise, layout regions, stamp detection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0" y="20162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062A63"/>
                </a:solidFill>
                <a:latin typeface="Segoe UI"/>
              </a:rPr>
              <a:t>FR-2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2404872"/>
            <a:ext cx="11064240" cy="457200"/>
          </a:xfrm>
          <a:prstGeom prst="rect">
            <a:avLst/>
          </a:prstGeom>
          <a:solidFill>
            <a:srgbClr val="F7F9FB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2404872"/>
            <a:ext cx="384048" cy="457200"/>
          </a:xfrm>
          <a:prstGeom prst="rect">
            <a:avLst/>
          </a:prstGeom>
          <a:solidFill>
            <a:srgbClr val="0A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252374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2523744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16202E"/>
                </a:solidFill>
                <a:latin typeface="Segoe UI"/>
              </a:rPr>
              <a:t>OCR / HTR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0" y="2532888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4A5A70"/>
                </a:solidFill>
                <a:latin typeface="Segoe UI"/>
              </a:rPr>
              <a:t>Tesseract 5 with word-level confidence; separate handwriting path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60" y="253288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062A63"/>
                </a:solidFill>
                <a:latin typeface="Segoe UI"/>
              </a:rPr>
              <a:t>FR-3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2921508"/>
            <a:ext cx="1106424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2921508"/>
            <a:ext cx="384048" cy="457200"/>
          </a:xfrm>
          <a:prstGeom prst="rect">
            <a:avLst/>
          </a:prstGeom>
          <a:solidFill>
            <a:srgbClr val="0A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3040379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3040379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16202E"/>
                </a:solidFill>
                <a:latin typeface="Segoe UI"/>
              </a:rPr>
              <a:t>Field extraction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83280" y="3049524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4A5A70"/>
                </a:solidFill>
                <a:latin typeface="Segoe UI"/>
              </a:rPr>
              <a:t>label aliases + regex + NER-style scoring across 19 fields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24160" y="3049524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062A63"/>
                </a:solidFill>
                <a:latin typeface="Segoe UI"/>
              </a:rPr>
              <a:t>FR-4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3438144"/>
            <a:ext cx="11064240" cy="457200"/>
          </a:xfrm>
          <a:prstGeom prst="rect">
            <a:avLst/>
          </a:prstGeom>
          <a:solidFill>
            <a:srgbClr val="F7F9FB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48640" y="3438144"/>
            <a:ext cx="384048" cy="457200"/>
          </a:xfrm>
          <a:prstGeom prst="rect">
            <a:avLst/>
          </a:prstGeom>
          <a:solidFill>
            <a:srgbClr val="0A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3557015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" y="3557015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16202E"/>
                </a:solidFill>
                <a:latin typeface="Segoe UI"/>
              </a:rPr>
              <a:t>Confidence fusion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83280" y="3566160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4A5A70"/>
                </a:solidFill>
                <a:latin typeface="Segoe UI"/>
              </a:rPr>
              <a:t>OCR + pattern + label proximity + cross-field consistency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424160" y="356616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062A63"/>
                </a:solidFill>
                <a:latin typeface="Segoe UI"/>
              </a:rPr>
              <a:t>FR-5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3954779"/>
            <a:ext cx="1106424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8640" y="3954779"/>
            <a:ext cx="384048" cy="457200"/>
          </a:xfrm>
          <a:prstGeom prst="rect">
            <a:avLst/>
          </a:prstGeom>
          <a:solidFill>
            <a:srgbClr val="0A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4073651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" y="4073651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16202E"/>
                </a:solidFill>
                <a:latin typeface="Segoe UI"/>
              </a:rPr>
              <a:t>GIS linking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83280" y="4082795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4A5A70"/>
                </a:solidFill>
                <a:latin typeface="Segoe UI"/>
              </a:rPr>
              <a:t>Shapely polygon match on khasra/survey, area comparison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24160" y="4082795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062A63"/>
                </a:solidFill>
                <a:latin typeface="Segoe UI"/>
              </a:rPr>
              <a:t>FR-9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" y="4471416"/>
            <a:ext cx="11064240" cy="457200"/>
          </a:xfrm>
          <a:prstGeom prst="rect">
            <a:avLst/>
          </a:prstGeom>
          <a:solidFill>
            <a:srgbClr val="F7F9FB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48640" y="4471416"/>
            <a:ext cx="384048" cy="457200"/>
          </a:xfrm>
          <a:prstGeom prst="rect">
            <a:avLst/>
          </a:prstGeom>
          <a:solidFill>
            <a:srgbClr val="0A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48640" y="4590288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51560" y="4590288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16202E"/>
                </a:solidFill>
                <a:latin typeface="Segoe UI"/>
              </a:rPr>
              <a:t>Validation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83280" y="4599431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4A5A70"/>
                </a:solidFill>
                <a:latin typeface="Segoe UI"/>
              </a:rPr>
              <a:t>BR-1…BR-10 with severity, evidence and suggested action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24160" y="4599431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062A63"/>
                </a:solidFill>
                <a:latin typeface="Segoe UI"/>
              </a:rPr>
              <a:t>FR-6/7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4988052"/>
            <a:ext cx="1106424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48640" y="4988052"/>
            <a:ext cx="384048" cy="457200"/>
          </a:xfrm>
          <a:prstGeom prst="rect">
            <a:avLst/>
          </a:prstGeom>
          <a:solidFill>
            <a:srgbClr val="0A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5106924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51560" y="5106924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16202E"/>
                </a:solidFill>
                <a:latin typeface="Segoe UI"/>
              </a:rPr>
              <a:t>Cross-database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383280" y="5116068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4A5A70"/>
                </a:solidFill>
                <a:latin typeface="Segoe UI"/>
              </a:rPr>
              <a:t>Bhulekh, BhuNaksha, IGR, LGD, LRMS checks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24160" y="5116068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062A63"/>
                </a:solidFill>
                <a:latin typeface="Segoe UI"/>
              </a:rPr>
              <a:t>FR-8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48640" y="5504688"/>
            <a:ext cx="11064240" cy="457200"/>
          </a:xfrm>
          <a:prstGeom prst="rect">
            <a:avLst/>
          </a:prstGeom>
          <a:solidFill>
            <a:srgbClr val="F7F9FB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48640" y="5504688"/>
            <a:ext cx="384048" cy="457200"/>
          </a:xfrm>
          <a:prstGeom prst="rect">
            <a:avLst/>
          </a:prstGeom>
          <a:solidFill>
            <a:srgbClr val="0A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8640" y="5623559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Segoe UI"/>
              </a:rPr>
              <a:t>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51560" y="5623559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16202E"/>
                </a:solidFill>
                <a:latin typeface="Segoe UI"/>
              </a:rPr>
              <a:t>Human review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383280" y="5632703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4A5A70"/>
                </a:solidFill>
                <a:latin typeface="Segoe UI"/>
              </a:rPr>
              <a:t>correct / approve / reject / escalate, every step audited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424160" y="5632703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062A63"/>
                </a:solidFill>
                <a:latin typeface="Segoe UI"/>
              </a:rPr>
              <a:t>FR-10/12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48640" y="6062472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7B8798"/>
                </a:solidFill>
                <a:latin typeface="Segoe UI"/>
              </a:rPr>
              <a:t>Every stage writes to the audit trail — the officer can always ask "why did the system think that?" and get the evidence region and confidence that produced it.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48640" y="644652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B8798"/>
                </a:solidFill>
                <a:latin typeface="Segoe UI"/>
              </a:rPr>
              <a:t>BhuVerify · SIH26018 · Team Shadow Slayers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789920" y="644652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B8798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27432"/>
          </a:xfrm>
          <a:prstGeom prst="rect">
            <a:avLst/>
          </a:prstGeom>
          <a:solidFill>
            <a:srgbClr val="0A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062A63"/>
                </a:solidFill>
                <a:latin typeface="Segoe UI"/>
              </a:rPr>
              <a:t>VALIDATION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500" b="1">
                <a:solidFill>
                  <a:srgbClr val="16202E"/>
                </a:solidFill>
                <a:latin typeface="Segoe UI"/>
              </a:rPr>
              <a:t>Ten business rules, each with a name and a reason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8638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7B8798"/>
                </a:solidFill>
                <a:latin typeface="Segoe UI"/>
              </a:rPr>
              <a:t>A finding is never just a red flag — it names the rule, the conflicting values and the next step.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5486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371600"/>
            <a:ext cx="50292" cy="713232"/>
          </a:xfrm>
          <a:prstGeom prst="rect">
            <a:avLst/>
          </a:prstGeom>
          <a:solidFill>
            <a:srgbClr val="B0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453896"/>
            <a:ext cx="56692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1">
                <a:solidFill>
                  <a:srgbClr val="B02A37"/>
                </a:solidFill>
                <a:latin typeface="Segoe UI"/>
              </a:rPr>
              <a:t>BR-1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1453896"/>
            <a:ext cx="39319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1">
                <a:solidFill>
                  <a:srgbClr val="16202E"/>
                </a:solidFill>
                <a:latin typeface="Segoe UI"/>
              </a:rPr>
              <a:t>Mandatory Field Check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1700784"/>
            <a:ext cx="515721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4A5A70"/>
                </a:solidFill>
                <a:latin typeface="Segoe UI"/>
              </a:rPr>
              <a:t>Ensures all required land record fields were extracted.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76672" y="1453896"/>
            <a:ext cx="512064" cy="219456"/>
          </a:xfrm>
          <a:prstGeom prst="rect">
            <a:avLst/>
          </a:prstGeom>
          <a:solidFill>
            <a:srgbClr val="B0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76672" y="1481328"/>
            <a:ext cx="51206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FFFFF"/>
                </a:solidFill>
                <a:latin typeface="Segoe UI"/>
              </a:rPr>
              <a:t>6 hit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157984"/>
            <a:ext cx="5486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157984"/>
            <a:ext cx="50292" cy="713232"/>
          </a:xfrm>
          <a:prstGeom prst="rect">
            <a:avLst/>
          </a:prstGeom>
          <a:solidFill>
            <a:srgbClr val="B0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2240279"/>
            <a:ext cx="56692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1">
                <a:solidFill>
                  <a:srgbClr val="B02A37"/>
                </a:solidFill>
                <a:latin typeface="Segoe UI"/>
              </a:rPr>
              <a:t>BR-2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2240279"/>
            <a:ext cx="39319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1">
                <a:solidFill>
                  <a:srgbClr val="16202E"/>
                </a:solidFill>
                <a:latin typeface="Segoe UI"/>
              </a:rPr>
              <a:t>Sub-Plot Area Sum Check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2487168"/>
            <a:ext cx="515721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4A5A70"/>
                </a:solidFill>
                <a:latin typeface="Segoe UI"/>
              </a:rPr>
              <a:t>Child (sub-divided) plot areas must sum to the parent plot area.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76672" y="2240279"/>
            <a:ext cx="512064" cy="219456"/>
          </a:xfrm>
          <a:prstGeom prst="rect">
            <a:avLst/>
          </a:prstGeom>
          <a:solidFill>
            <a:srgbClr val="B0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76672" y="2267712"/>
            <a:ext cx="51206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FFFFF"/>
                </a:solidFill>
                <a:latin typeface="Segoe UI"/>
              </a:rPr>
              <a:t>1 hit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2944368"/>
            <a:ext cx="5486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2944368"/>
            <a:ext cx="50292" cy="713232"/>
          </a:xfrm>
          <a:prstGeom prst="rect">
            <a:avLst/>
          </a:prstGeom>
          <a:solidFill>
            <a:srgbClr val="B0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3232" y="3026663"/>
            <a:ext cx="56692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1">
                <a:solidFill>
                  <a:srgbClr val="B02A37"/>
                </a:solidFill>
                <a:latin typeface="Segoe UI"/>
              </a:rPr>
              <a:t>BR-3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3026663"/>
            <a:ext cx="39319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1">
                <a:solidFill>
                  <a:srgbClr val="16202E"/>
                </a:solidFill>
                <a:latin typeface="Segoe UI"/>
              </a:rPr>
              <a:t>Duplicate Survey/Khasra Check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" y="3273551"/>
            <a:ext cx="515721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4A5A70"/>
                </a:solidFill>
                <a:latin typeface="Segoe UI"/>
              </a:rPr>
              <a:t>The same plot identifier must not be held by conflicting owners.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76672" y="3026663"/>
            <a:ext cx="512064" cy="219456"/>
          </a:xfrm>
          <a:prstGeom prst="rect">
            <a:avLst/>
          </a:prstGeom>
          <a:solidFill>
            <a:srgbClr val="B0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76672" y="3054096"/>
            <a:ext cx="51206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FFFFF"/>
                </a:solidFill>
                <a:latin typeface="Segoe UI"/>
              </a:rPr>
              <a:t>2 hit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730752"/>
            <a:ext cx="5486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3730752"/>
            <a:ext cx="50292" cy="713232"/>
          </a:xfrm>
          <a:prstGeom prst="rect">
            <a:avLst/>
          </a:prstGeom>
          <a:solidFill>
            <a:srgbClr val="B0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" y="3813048"/>
            <a:ext cx="56692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1">
                <a:solidFill>
                  <a:srgbClr val="B02A37"/>
                </a:solidFill>
                <a:latin typeface="Segoe UI"/>
              </a:rPr>
              <a:t>BR-4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25880" y="3813048"/>
            <a:ext cx="39319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1">
                <a:solidFill>
                  <a:srgbClr val="16202E"/>
                </a:solidFill>
                <a:latin typeface="Segoe UI"/>
              </a:rPr>
              <a:t>Chronological Validity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3232" y="4059936"/>
            <a:ext cx="515721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4A5A70"/>
                </a:solidFill>
                <a:latin typeface="Segoe UI"/>
              </a:rPr>
              <a:t>Mutation and registration dates must be parseable, in the past, and ordered.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76672" y="3813048"/>
            <a:ext cx="512064" cy="219456"/>
          </a:xfrm>
          <a:prstGeom prst="rect">
            <a:avLst/>
          </a:prstGeom>
          <a:solidFill>
            <a:srgbClr val="B0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76672" y="3840480"/>
            <a:ext cx="51206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FFFFF"/>
                </a:solidFill>
                <a:latin typeface="Segoe UI"/>
              </a:rPr>
              <a:t>1 hit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4517136"/>
            <a:ext cx="5486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48640" y="4517136"/>
            <a:ext cx="50292" cy="713232"/>
          </a:xfrm>
          <a:prstGeom prst="rect">
            <a:avLst/>
          </a:prstGeom>
          <a:solidFill>
            <a:srgbClr val="B0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13232" y="4599431"/>
            <a:ext cx="56692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1">
                <a:solidFill>
                  <a:srgbClr val="B02A37"/>
                </a:solidFill>
                <a:latin typeface="Segoe UI"/>
              </a:rPr>
              <a:t>BR-5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25880" y="4599431"/>
            <a:ext cx="39319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1">
                <a:solidFill>
                  <a:srgbClr val="16202E"/>
                </a:solidFill>
                <a:latin typeface="Segoe UI"/>
              </a:rPr>
              <a:t>Mutation Chain Continuity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3232" y="4846320"/>
            <a:ext cx="515721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4A5A70"/>
                </a:solidFill>
                <a:latin typeface="Segoe UI"/>
              </a:rPr>
              <a:t>The previous owner of a mutation must match the prior record holder.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376672" y="4599431"/>
            <a:ext cx="512064" cy="219456"/>
          </a:xfrm>
          <a:prstGeom prst="rect">
            <a:avLst/>
          </a:prstGeom>
          <a:solidFill>
            <a:srgbClr val="B0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76672" y="4626864"/>
            <a:ext cx="51206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FFFFF"/>
                </a:solidFill>
                <a:latin typeface="Segoe UI"/>
              </a:rPr>
              <a:t>4 hit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72200" y="1371600"/>
            <a:ext cx="5486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172200" y="1371600"/>
            <a:ext cx="50292" cy="713232"/>
          </a:xfrm>
          <a:prstGeom prst="rect">
            <a:avLst/>
          </a:prstGeom>
          <a:solidFill>
            <a:srgbClr val="B0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36792" y="1453896"/>
            <a:ext cx="56692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1">
                <a:solidFill>
                  <a:srgbClr val="B02A37"/>
                </a:solidFill>
                <a:latin typeface="Segoe UI"/>
              </a:rPr>
              <a:t>BR-6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49440" y="1453896"/>
            <a:ext cx="39319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1">
                <a:solidFill>
                  <a:srgbClr val="16202E"/>
                </a:solidFill>
                <a:latin typeface="Segoe UI"/>
              </a:rPr>
              <a:t>Unit Normalisation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36792" y="1700784"/>
            <a:ext cx="515721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4A5A70"/>
                </a:solidFill>
                <a:latin typeface="Segoe UI"/>
              </a:rPr>
              <a:t>Local area units (acre/bigha/guntha/kanal/decimal) must convert to a standard unit.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1000232" y="1453896"/>
            <a:ext cx="512064" cy="219456"/>
          </a:xfrm>
          <a:prstGeom prst="rect">
            <a:avLst/>
          </a:prstGeom>
          <a:solidFill>
            <a:srgbClr val="B0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1000232" y="1481328"/>
            <a:ext cx="51206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FFFFF"/>
                </a:solidFill>
                <a:latin typeface="Segoe UI"/>
              </a:rPr>
              <a:t>2 hit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72200" y="2157984"/>
            <a:ext cx="5486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172200" y="2157984"/>
            <a:ext cx="50292" cy="713232"/>
          </a:xfrm>
          <a:prstGeom prst="rect">
            <a:avLst/>
          </a:prstGeom>
          <a:solidFill>
            <a:srgbClr val="B0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36792" y="2240279"/>
            <a:ext cx="56692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1">
                <a:solidFill>
                  <a:srgbClr val="B02A37"/>
                </a:solidFill>
                <a:latin typeface="Segoe UI"/>
              </a:rPr>
              <a:t>BR-7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949440" y="2240279"/>
            <a:ext cx="39319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1">
                <a:solidFill>
                  <a:srgbClr val="16202E"/>
                </a:solidFill>
                <a:latin typeface="Segoe UI"/>
              </a:rPr>
              <a:t>Village-Tehsil Master Check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36792" y="2487168"/>
            <a:ext cx="515721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4A5A70"/>
                </a:solidFill>
                <a:latin typeface="Segoe UI"/>
              </a:rPr>
              <a:t>Village / tehsil / district must exist in the administrative master and agree.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1000232" y="2240279"/>
            <a:ext cx="512064" cy="219456"/>
          </a:xfrm>
          <a:prstGeom prst="rect">
            <a:avLst/>
          </a:prstGeom>
          <a:solidFill>
            <a:srgbClr val="B0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000232" y="2267712"/>
            <a:ext cx="51206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FFFFF"/>
                </a:solidFill>
                <a:latin typeface="Segoe UI"/>
              </a:rPr>
              <a:t>11 hit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172200" y="2944368"/>
            <a:ext cx="5486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172200" y="2944368"/>
            <a:ext cx="50292" cy="713232"/>
          </a:xfrm>
          <a:prstGeom prst="rect">
            <a:avLst/>
          </a:prstGeom>
          <a:solidFill>
            <a:srgbClr val="06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336792" y="3026663"/>
            <a:ext cx="56692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1">
                <a:solidFill>
                  <a:srgbClr val="0A3D91"/>
                </a:solidFill>
                <a:latin typeface="Segoe UI"/>
              </a:rPr>
              <a:t>BR-8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949440" y="3026663"/>
            <a:ext cx="39319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1">
                <a:solidFill>
                  <a:srgbClr val="16202E"/>
                </a:solidFill>
                <a:latin typeface="Segoe UI"/>
              </a:rPr>
              <a:t>Owner Fuzzy Match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36792" y="3273551"/>
            <a:ext cx="515721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4A5A70"/>
                </a:solidFill>
                <a:latin typeface="Segoe UI"/>
              </a:rPr>
              <a:t>Detects spelling variants of the same owner name across records.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172200" y="3730752"/>
            <a:ext cx="5486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172200" y="3730752"/>
            <a:ext cx="50292" cy="713232"/>
          </a:xfrm>
          <a:prstGeom prst="rect">
            <a:avLst/>
          </a:prstGeom>
          <a:solidFill>
            <a:srgbClr val="B0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336792" y="3813048"/>
            <a:ext cx="56692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1">
                <a:solidFill>
                  <a:srgbClr val="B02A37"/>
                </a:solidFill>
                <a:latin typeface="Segoe UI"/>
              </a:rPr>
              <a:t>BR-9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949440" y="3813048"/>
            <a:ext cx="39319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1">
                <a:solidFill>
                  <a:srgbClr val="16202E"/>
                </a:solidFill>
                <a:latin typeface="Segoe UI"/>
              </a:rPr>
              <a:t>Boundary / Spatial Consistency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36792" y="4059936"/>
            <a:ext cx="515721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4A5A70"/>
                </a:solidFill>
                <a:latin typeface="Segoe UI"/>
              </a:rPr>
              <a:t>Recorded area must agree with the cadastral polygon area within tolerance.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1000232" y="3813048"/>
            <a:ext cx="512064" cy="219456"/>
          </a:xfrm>
          <a:prstGeom prst="rect">
            <a:avLst/>
          </a:prstGeom>
          <a:solidFill>
            <a:srgbClr val="B0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1000232" y="3840480"/>
            <a:ext cx="51206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FFFFF"/>
                </a:solidFill>
                <a:latin typeface="Segoe UI"/>
              </a:rPr>
              <a:t>3 hit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172200" y="4517136"/>
            <a:ext cx="5486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172200" y="4517136"/>
            <a:ext cx="50292" cy="713232"/>
          </a:xfrm>
          <a:prstGeom prst="rect">
            <a:avLst/>
          </a:prstGeom>
          <a:solidFill>
            <a:srgbClr val="B0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336792" y="4599431"/>
            <a:ext cx="56692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1">
                <a:solidFill>
                  <a:srgbClr val="B02A37"/>
                </a:solidFill>
                <a:latin typeface="Segoe UI"/>
              </a:rPr>
              <a:t>BR-10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949440" y="4599431"/>
            <a:ext cx="39319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1">
                <a:solidFill>
                  <a:srgbClr val="16202E"/>
                </a:solidFill>
                <a:latin typeface="Segoe UI"/>
              </a:rPr>
              <a:t>Registration Format Check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336792" y="4846320"/>
            <a:ext cx="515721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4A5A70"/>
                </a:solidFill>
                <a:latin typeface="Segoe UI"/>
              </a:rPr>
              <a:t>Registration reference must match the SRO reference pattern.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1000232" y="4599431"/>
            <a:ext cx="512064" cy="219456"/>
          </a:xfrm>
          <a:prstGeom prst="rect">
            <a:avLst/>
          </a:prstGeom>
          <a:solidFill>
            <a:srgbClr val="B0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1000232" y="4626864"/>
            <a:ext cx="51206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FFFFF"/>
                </a:solidFill>
                <a:latin typeface="Segoe UI"/>
              </a:rPr>
              <a:t>1 hit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48640" y="553212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4A5A70"/>
                </a:solidFill>
                <a:latin typeface="Segoe UI"/>
              </a:rPr>
              <a:t>Every rule is unit-tested, including the cases that must not fire. 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4A5A70"/>
                </a:solidFill>
                <a:latin typeface="Segoe UI"/>
              </a:rPr>
              <a:t>For example BR-4 must not read book number 3311 as a year, and BR-10 must not fail a valid reference just because a stamp fragment landed in the same OCR span. Both were real bugs found and fixed by the test-suite.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48640" y="644652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B8798"/>
                </a:solidFill>
                <a:latin typeface="Segoe UI"/>
              </a:rPr>
              <a:t>BhuVerify · SIH26018 · Team Shadow Slayers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789920" y="644652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B8798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27432"/>
          </a:xfrm>
          <a:prstGeom prst="rect">
            <a:avLst/>
          </a:prstGeom>
          <a:solidFill>
            <a:srgbClr val="0A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062A63"/>
                </a:solidFill>
                <a:latin typeface="Segoe UI"/>
              </a:rPr>
              <a:t>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500" b="1">
                <a:solidFill>
                  <a:srgbClr val="16202E"/>
                </a:solidFill>
                <a:latin typeface="Segoe UI"/>
              </a:rPr>
              <a:t>Live results from the running prototype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8638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7B8798"/>
                </a:solidFill>
                <a:latin typeface="Segoe UI"/>
              </a:rPr>
              <a:t>Read from the API at http://localhost:8000 while building this deck — not typed in by hand.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2688336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371600"/>
            <a:ext cx="54864" cy="1024128"/>
          </a:xfrm>
          <a:prstGeom prst="rect">
            <a:avLst/>
          </a:prstGeom>
          <a:solidFill>
            <a:srgbClr val="06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99616"/>
            <a:ext cx="23957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7B8798"/>
                </a:solidFill>
                <a:latin typeface="Segoe UI"/>
              </a:rPr>
              <a:t>DOCUMENTS PROCESSED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700784"/>
            <a:ext cx="239572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400" b="1">
                <a:solidFill>
                  <a:srgbClr val="062A63"/>
                </a:solidFill>
                <a:latin typeface="Segoe UI"/>
              </a:rPr>
              <a:t>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21408"/>
            <a:ext cx="23957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7B8798"/>
                </a:solidFill>
                <a:latin typeface="Segoe UI"/>
              </a:rPr>
              <a:t>all six demo records, zero failures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74136" y="1371600"/>
            <a:ext cx="2688336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74136" y="1371600"/>
            <a:ext cx="54864" cy="1024128"/>
          </a:xfrm>
          <a:prstGeom prst="rect">
            <a:avLst/>
          </a:prstGeom>
          <a:solidFill>
            <a:srgbClr val="06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57016" y="1499616"/>
            <a:ext cx="23957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7B8798"/>
                </a:solidFill>
                <a:latin typeface="Segoe UI"/>
              </a:rPr>
              <a:t>MEAN CONFIDENCE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57016" y="1700784"/>
            <a:ext cx="239572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400" b="1">
                <a:solidFill>
                  <a:srgbClr val="062A63"/>
                </a:solidFill>
                <a:latin typeface="Segoe UI"/>
              </a:rPr>
              <a:t>72.0%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57016" y="2121408"/>
            <a:ext cx="23957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7B8798"/>
                </a:solidFill>
                <a:latin typeface="Segoe UI"/>
              </a:rPr>
              <a:t>field-level, per record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9631" y="1371600"/>
            <a:ext cx="2688336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9631" y="1371600"/>
            <a:ext cx="54864" cy="1024128"/>
          </a:xfrm>
          <a:prstGeom prst="rect">
            <a:avLst/>
          </a:prstGeom>
          <a:solidFill>
            <a:srgbClr val="B0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2512" y="1499616"/>
            <a:ext cx="23957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7B8798"/>
                </a:solidFill>
                <a:latin typeface="Segoe UI"/>
              </a:rPr>
              <a:t>FINDINGS RAISED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2512" y="1700784"/>
            <a:ext cx="239572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400" b="1">
                <a:solidFill>
                  <a:srgbClr val="B02A37"/>
                </a:solidFill>
                <a:latin typeface="Segoe UI"/>
              </a:rPr>
              <a:t>31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2512" y="2121408"/>
            <a:ext cx="23957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7B8798"/>
                </a:solidFill>
                <a:latin typeface="Segoe UI"/>
              </a:rPr>
              <a:t>12 high or critical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25128" y="1371600"/>
            <a:ext cx="2688336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25128" y="1371600"/>
            <a:ext cx="54864" cy="1024128"/>
          </a:xfrm>
          <a:prstGeom prst="rect">
            <a:avLst/>
          </a:prstGeom>
          <a:solidFill>
            <a:srgbClr val="06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08007" y="1499616"/>
            <a:ext cx="23957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7B8798"/>
                </a:solidFill>
                <a:latin typeface="Segoe UI"/>
              </a:rPr>
              <a:t>GIS LINK RATE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08007" y="1700784"/>
            <a:ext cx="239572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400" b="1">
                <a:solidFill>
                  <a:srgbClr val="062A63"/>
                </a:solidFill>
                <a:latin typeface="Segoe UI"/>
              </a:rPr>
              <a:t>50%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08007" y="2121408"/>
            <a:ext cx="23957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7B8798"/>
                </a:solidFill>
                <a:latin typeface="Segoe UI"/>
              </a:rPr>
              <a:t>6/12 records matched a polygon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2523744"/>
            <a:ext cx="2688336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8640" y="2523744"/>
            <a:ext cx="54864" cy="102412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2651760"/>
            <a:ext cx="23957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7B8798"/>
                </a:solidFill>
                <a:latin typeface="Segoe UI"/>
              </a:rPr>
              <a:t>AVG PIPELINE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2852927"/>
            <a:ext cx="239572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400" b="1">
                <a:solidFill>
                  <a:srgbClr val="D97706"/>
                </a:solidFill>
                <a:latin typeface="Segoe UI"/>
              </a:rPr>
              <a:t>13.2s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3273551"/>
            <a:ext cx="23957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7B8798"/>
                </a:solidFill>
                <a:latin typeface="Segoe UI"/>
              </a:rPr>
              <a:t>budget 10s · slowest 76.4s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374136" y="2523744"/>
            <a:ext cx="2688336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374136" y="2523744"/>
            <a:ext cx="54864" cy="1024128"/>
          </a:xfrm>
          <a:prstGeom prst="rect">
            <a:avLst/>
          </a:prstGeom>
          <a:solidFill>
            <a:srgbClr val="06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57016" y="2651760"/>
            <a:ext cx="23957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7B8798"/>
                </a:solidFill>
                <a:latin typeface="Segoe UI"/>
              </a:rPr>
              <a:t>AUDIT EVENTS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57016" y="2852927"/>
            <a:ext cx="239572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400" b="1">
                <a:solidFill>
                  <a:srgbClr val="062A63"/>
                </a:solidFill>
                <a:latin typeface="Segoe UI"/>
              </a:rPr>
              <a:t>317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57016" y="3273551"/>
            <a:ext cx="23957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7B8798"/>
                </a:solidFill>
                <a:latin typeface="Segoe UI"/>
              </a:rPr>
              <a:t>hash-chained, tamper-evident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99631" y="2523744"/>
            <a:ext cx="2688336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99631" y="2523744"/>
            <a:ext cx="54864" cy="1024128"/>
          </a:xfrm>
          <a:prstGeom prst="rect">
            <a:avLst/>
          </a:prstGeom>
          <a:solidFill>
            <a:srgbClr val="06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82512" y="2651760"/>
            <a:ext cx="23957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7B8798"/>
                </a:solidFill>
                <a:latin typeface="Segoe UI"/>
              </a:rPr>
              <a:t>CORRECTIONS CAPTURED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82512" y="2852927"/>
            <a:ext cx="239572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400" b="1">
                <a:solidFill>
                  <a:srgbClr val="062A63"/>
                </a:solidFill>
                <a:latin typeface="Segoe UI"/>
              </a:rPr>
              <a:t>11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82512" y="3273551"/>
            <a:ext cx="23957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7B8798"/>
                </a:solidFill>
                <a:latin typeface="Segoe UI"/>
              </a:rPr>
              <a:t>labeled AI→human pairs for fine-tuning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025128" y="2523744"/>
            <a:ext cx="2688336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025128" y="2523744"/>
            <a:ext cx="54864" cy="1024128"/>
          </a:xfrm>
          <a:prstGeom prst="rect">
            <a:avLst/>
          </a:prstGeom>
          <a:solidFill>
            <a:srgbClr val="06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208007" y="2651760"/>
            <a:ext cx="23957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1">
                <a:solidFill>
                  <a:srgbClr val="7B8798"/>
                </a:solidFill>
                <a:latin typeface="Segoe UI"/>
              </a:rPr>
              <a:t>TEST SUITE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08007" y="2852927"/>
            <a:ext cx="239572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400" b="1">
                <a:solidFill>
                  <a:srgbClr val="062A63"/>
                </a:solidFill>
                <a:latin typeface="Segoe UI"/>
              </a:rPr>
              <a:t>99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08007" y="3273551"/>
            <a:ext cx="23957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>
                <a:solidFill>
                  <a:srgbClr val="7B8798"/>
                </a:solidFill>
                <a:latin typeface="Segoe UI"/>
              </a:rPr>
              <a:t>passing, incl. all 10 rules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384048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7B8798"/>
                </a:solidFill>
                <a:latin typeface="Segoe UI"/>
              </a:rPr>
              <a:t>FINDINGS BY SEVERITY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" y="4187952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4A5A70"/>
                </a:solidFill>
                <a:latin typeface="Segoe UI"/>
              </a:rPr>
              <a:t>critical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600200" y="4242816"/>
            <a:ext cx="3291840" cy="1554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600200" y="4242816"/>
            <a:ext cx="1410788" cy="155448"/>
          </a:xfrm>
          <a:prstGeom prst="rect">
            <a:avLst/>
          </a:prstGeom>
          <a:solidFill>
            <a:srgbClr val="B0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29200" y="4187952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16202E"/>
                </a:solidFill>
                <a:latin typeface="Segoe UI"/>
              </a:rP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8640" y="4572000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4A5A70"/>
                </a:solidFill>
                <a:latin typeface="Segoe UI"/>
              </a:rPr>
              <a:t>high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600200" y="4626864"/>
            <a:ext cx="3291840" cy="1554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600200" y="4626864"/>
            <a:ext cx="1410788" cy="155448"/>
          </a:xfrm>
          <a:prstGeom prst="rect">
            <a:avLst/>
          </a:prstGeom>
          <a:solidFill>
            <a:srgbClr val="D06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29200" y="4572000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16202E"/>
                </a:solidFill>
                <a:latin typeface="Segoe UI"/>
              </a:rPr>
              <a:t>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" y="4956048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4A5A70"/>
                </a:solidFill>
                <a:latin typeface="Segoe UI"/>
              </a:rPr>
              <a:t>medium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600200" y="5010912"/>
            <a:ext cx="3291840" cy="1554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600200" y="5010912"/>
            <a:ext cx="3291840" cy="15544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029200" y="4956048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16202E"/>
                </a:solidFill>
                <a:latin typeface="Segoe UI"/>
              </a:rPr>
              <a:t>14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48640" y="5340096"/>
            <a:ext cx="914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4A5A70"/>
                </a:solidFill>
                <a:latin typeface="Segoe UI"/>
              </a:rPr>
              <a:t>low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600200" y="5394959"/>
            <a:ext cx="3291840" cy="1554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600200" y="5394959"/>
            <a:ext cx="1175657" cy="155448"/>
          </a:xfrm>
          <a:prstGeom prst="rect">
            <a:avLst/>
          </a:prstGeom>
          <a:solidFill>
            <a:srgbClr val="1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029200" y="53400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16202E"/>
                </a:solidFill>
                <a:latin typeface="Segoe UI"/>
              </a:rPr>
              <a:t>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943600" y="3749040"/>
            <a:ext cx="5669280" cy="2152269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943600" y="3749040"/>
            <a:ext cx="5669280" cy="329184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108192" y="3813048"/>
            <a:ext cx="53949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1">
                <a:solidFill>
                  <a:srgbClr val="16202E"/>
                </a:solidFill>
                <a:latin typeface="Segoe UI"/>
              </a:rPr>
              <a:t>What the demo dataset is built to prove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08192" y="4278441"/>
            <a:ext cx="64008" cy="64008"/>
          </a:xfrm>
          <a:prstGeom prst="rect">
            <a:avLst/>
          </a:prstGeom>
          <a:solidFill>
            <a:srgbClr val="06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27648" y="4206240"/>
            <a:ext cx="5120640" cy="26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>
                <a:solidFill>
                  <a:srgbClr val="4A5A70"/>
                </a:solidFill>
                <a:latin typeface="Segoe UI"/>
              </a:rPr>
              <a:t>DOC-002 · degraded scan → deskew engages + BR-10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108192" y="4595509"/>
            <a:ext cx="64008" cy="64008"/>
          </a:xfrm>
          <a:prstGeom prst="rect">
            <a:avLst/>
          </a:prstGeom>
          <a:solidFill>
            <a:srgbClr val="06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327648" y="4523308"/>
            <a:ext cx="5120640" cy="26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>
                <a:solidFill>
                  <a:srgbClr val="4A5A70"/>
                </a:solidFill>
                <a:latin typeface="Segoe UI"/>
              </a:rPr>
              <a:t>DOC-003 · handwritten Devanagari → HTR + correction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108192" y="4912577"/>
            <a:ext cx="64008" cy="64008"/>
          </a:xfrm>
          <a:prstGeom prst="rect">
            <a:avLst/>
          </a:prstGeom>
          <a:solidFill>
            <a:srgbClr val="06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27648" y="4840376"/>
            <a:ext cx="5120640" cy="26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>
                <a:solidFill>
                  <a:srgbClr val="4A5A70"/>
                </a:solidFill>
                <a:latin typeface="Segoe UI"/>
              </a:rPr>
              <a:t>DOC-004 · +53% area vs polygon → BR-9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108192" y="5229645"/>
            <a:ext cx="64008" cy="64008"/>
          </a:xfrm>
          <a:prstGeom prst="rect">
            <a:avLst/>
          </a:prstGeom>
          <a:solidFill>
            <a:srgbClr val="06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27648" y="5157444"/>
            <a:ext cx="5120640" cy="26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>
                <a:solidFill>
                  <a:srgbClr val="4A5A70"/>
                </a:solidFill>
                <a:latin typeface="Segoe UI"/>
              </a:rPr>
              <a:t>DOC-005 · conflicting owner → BR-3 critical → HTTP 409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108192" y="5546713"/>
            <a:ext cx="64008" cy="64008"/>
          </a:xfrm>
          <a:prstGeom prst="rect">
            <a:avLst/>
          </a:prstGeom>
          <a:solidFill>
            <a:srgbClr val="06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327648" y="5474512"/>
            <a:ext cx="5120640" cy="26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>
                <a:solidFill>
                  <a:srgbClr val="4A5A70"/>
                </a:solidFill>
                <a:latin typeface="Segoe UI"/>
              </a:rPr>
              <a:t>DOC-006 · sub-plots ≠ parent → BR-2, BR-1, BR-4, BR-7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8640" y="644652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B8798"/>
                </a:solidFill>
                <a:latin typeface="Segoe UI"/>
              </a:rPr>
              <a:t>BhuVerify · SIH26018 · Team Shadow Slayers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789920" y="644652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B8798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27432"/>
          </a:xfrm>
          <a:prstGeom prst="rect">
            <a:avLst/>
          </a:prstGeom>
          <a:solidFill>
            <a:srgbClr val="0A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062A63"/>
                </a:solidFill>
                <a:latin typeface="Segoe UI"/>
              </a:rPr>
              <a:t>LANGUAGE SUPPORT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500" b="1">
                <a:solidFill>
                  <a:srgbClr val="16202E"/>
                </a:solidFill>
                <a:latin typeface="Segoe UI"/>
              </a:rPr>
              <a:t>Multilingual by construction, not by translation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8638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7B8798"/>
                </a:solidFill>
                <a:latin typeface="Segoe UI"/>
              </a:rPr>
              <a:t>The same extractor handles Latin, Devanagari and Odia scripts.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16202E"/>
                </a:solidFill>
                <a:latin typeface="Segoe UI"/>
              </a:rPr>
              <a:t>Language packs installed on this machine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783080"/>
            <a:ext cx="1097280" cy="566928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94767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0A3D91"/>
                </a:solidFill>
                <a:latin typeface="Segoe UI"/>
              </a:rPr>
              <a:t>eng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1783080" y="1783080"/>
            <a:ext cx="1097280" cy="566928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83080" y="194767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0A3D91"/>
                </a:solidFill>
                <a:latin typeface="Segoe UI"/>
              </a:rPr>
              <a:t>hin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0" y="1783080"/>
            <a:ext cx="1097280" cy="566928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17520" y="194767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0A3D91"/>
                </a:solidFill>
                <a:latin typeface="Segoe UI"/>
              </a:rPr>
              <a:t>ori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48716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>
                <a:solidFill>
                  <a:srgbClr val="7B8798"/>
                </a:solidFill>
                <a:latin typeface="Segoe UI"/>
              </a:rPr>
              <a:t>Tesseract 5.4.0.20240606 · the prototype runs real OCR, not canned text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01752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16202E"/>
                </a:solidFill>
                <a:latin typeface="Segoe UI"/>
              </a:rPr>
              <a:t>How a Hindi register page is handled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3429000"/>
            <a:ext cx="5175504" cy="2471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1">
                <a:solidFill>
                  <a:srgbClr val="16202E"/>
                </a:solidFill>
                <a:latin typeface="Segoe UI"/>
              </a:rPr>
              <a:t>Label aliases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755193"/>
            <a:ext cx="64008" cy="64008"/>
          </a:xfrm>
          <a:prstGeom prst="rect">
            <a:avLst/>
          </a:prstGeom>
          <a:solidFill>
            <a:srgbClr val="06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676116"/>
            <a:ext cx="5175504" cy="2836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4A5A70"/>
                </a:solidFill>
                <a:latin typeface="Segoe UI"/>
              </a:rPr>
              <a:t>खसरा / खाता / खातेदार map to the same field names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4069537"/>
            <a:ext cx="5175504" cy="2471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1">
                <a:solidFill>
                  <a:srgbClr val="16202E"/>
                </a:solidFill>
                <a:latin typeface="Segoe UI"/>
              </a:rPr>
              <a:t>Master data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395731"/>
            <a:ext cx="64008" cy="64008"/>
          </a:xfrm>
          <a:prstGeom prst="rect">
            <a:avLst/>
          </a:prstGeom>
          <a:solidFill>
            <a:srgbClr val="06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8096" y="4316653"/>
            <a:ext cx="5175504" cy="2836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4A5A70"/>
                </a:solidFill>
                <a:latin typeface="Segoe UI"/>
              </a:rPr>
              <a:t>Indic village spellings resolve so BR-7 validates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" y="4710074"/>
            <a:ext cx="5175504" cy="2471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1">
                <a:solidFill>
                  <a:srgbClr val="16202E"/>
                </a:solidFill>
                <a:latin typeface="Segoe UI"/>
              </a:rPr>
              <a:t>Handwriting path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036268"/>
            <a:ext cx="64008" cy="64008"/>
          </a:xfrm>
          <a:prstGeom prst="rect">
            <a:avLst/>
          </a:prstGeom>
          <a:solidFill>
            <a:srgbClr val="06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" y="4957191"/>
            <a:ext cx="5175504" cy="2836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4A5A70"/>
                </a:solidFill>
                <a:latin typeface="Segoe UI"/>
              </a:rPr>
              <a:t>separate PSM sweep, honestly lower confidence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" y="5350611"/>
            <a:ext cx="5175504" cy="2471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1">
                <a:solidFill>
                  <a:srgbClr val="16202E"/>
                </a:solidFill>
                <a:latin typeface="Segoe UI"/>
              </a:rPr>
              <a:t>Correction loop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5676805"/>
            <a:ext cx="64008" cy="64008"/>
          </a:xfrm>
          <a:prstGeom prst="rect">
            <a:avLst/>
          </a:prstGeom>
          <a:solidFill>
            <a:srgbClr val="06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5597728"/>
            <a:ext cx="5175504" cy="2836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4A5A70"/>
                </a:solidFill>
                <a:latin typeface="Segoe UI"/>
              </a:rPr>
              <a:t>mis-read names become labeled training data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1371600"/>
            <a:ext cx="5212080" cy="47548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29400" y="1536192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0A3D91"/>
                </a:solidFill>
                <a:latin typeface="Segoe UI"/>
              </a:rPr>
              <a:t>WHY THIS IS THE HARD PART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1828800"/>
            <a:ext cx="475488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4A5A70"/>
                </a:solidFill>
                <a:latin typeface="Segoe UI"/>
              </a:rPr>
              <a:t>Most OCR demos stop at reading Latin print. Indian land records do not look like that.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>
                <a:solidFill>
                  <a:srgbClr val="16202E"/>
                </a:solidFill>
                <a:latin typeface="Segoe UI"/>
              </a:rPr>
              <a:t> 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4A5A70"/>
                </a:solidFill>
                <a:latin typeface="Segoe UI"/>
              </a:rPr>
              <a:t>A page mixes printed Latin labels, handwritten Devanagari values, ruled tables, revenue stamps and faded paper. Reading it is only half the job — the extracted value still has to satisfy the same validation rules as an English record.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>
                <a:solidFill>
                  <a:srgbClr val="16202E"/>
                </a:solidFill>
                <a:latin typeface="Segoe UI"/>
              </a:rPr>
              <a:t> 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16202E"/>
                </a:solidFill>
                <a:latin typeface="Segoe UI"/>
              </a:rPr>
              <a:t>That is why the administrative master carries Indic aliases. Without them a Devanagari page would OCR correctly and then fail validation on every field — multilingual support in name only.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>
                <a:solidFill>
                  <a:srgbClr val="16202E"/>
                </a:solidFill>
                <a:latin typeface="Segoe UI"/>
              </a:rPr>
              <a:t> 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4A5A70"/>
                </a:solidFill>
                <a:latin typeface="Segoe UI"/>
              </a:rPr>
              <a:t>Production adds Marathi, Bengali, Telugu, Tamil and other state languages through the same adapter interface.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4652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B8798"/>
                </a:solidFill>
                <a:latin typeface="Segoe UI"/>
              </a:rPr>
              <a:t>BhuVerify · SIH26018 · Team Shadow Slayers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9920" y="644652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B8798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27432"/>
          </a:xfrm>
          <a:prstGeom prst="rect">
            <a:avLst/>
          </a:prstGeom>
          <a:solidFill>
            <a:srgbClr val="0A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062A63"/>
                </a:solidFill>
                <a:latin typeface="Segoe UI"/>
              </a:rPr>
              <a:t>GIS + AUDIT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500" b="1">
                <a:solidFill>
                  <a:srgbClr val="16202E"/>
                </a:solidFill>
                <a:latin typeface="Segoe UI"/>
              </a:rPr>
              <a:t>Maps and auditability: the two things OCR demos skip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8638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7B8798"/>
                </a:solidFill>
                <a:latin typeface="Segoe UI"/>
              </a:rPr>
              <a:t>Text records linked to cadastral geometry, and a trail nobody can quietly edit.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5486400" cy="2259711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371600"/>
            <a:ext cx="5486400" cy="329184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435608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1">
                <a:solidFill>
                  <a:srgbClr val="16202E"/>
                </a:solidFill>
                <a:latin typeface="Segoe UI"/>
              </a:rPr>
              <a:t>GIS / cadastral linking (FR-9)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" y="1907877"/>
            <a:ext cx="64008" cy="64008"/>
          </a:xfrm>
          <a:prstGeom prst="rect">
            <a:avLst/>
          </a:prstGeom>
          <a:solidFill>
            <a:srgbClr val="06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1828800"/>
            <a:ext cx="4937759" cy="2836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4A5A70"/>
                </a:solidFill>
                <a:latin typeface="Segoe UI"/>
              </a:rPr>
              <a:t>12 polygons — sample cadastral layer, EPSG:4326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" y="2246433"/>
            <a:ext cx="64008" cy="64008"/>
          </a:xfrm>
          <a:prstGeom prst="rect">
            <a:avLst/>
          </a:prstGeom>
          <a:solidFill>
            <a:srgbClr val="06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2167356"/>
            <a:ext cx="4937759" cy="2836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4A5A70"/>
                </a:solidFill>
                <a:latin typeface="Segoe UI"/>
              </a:rPr>
              <a:t>Matched on khasra → survey → plot number, in order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2584990"/>
            <a:ext cx="64008" cy="64008"/>
          </a:xfrm>
          <a:prstGeom prst="rect">
            <a:avLst/>
          </a:prstGeom>
          <a:solidFill>
            <a:srgbClr val="06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2505913"/>
            <a:ext cx="4937759" cy="2836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4A5A70"/>
                </a:solidFill>
                <a:latin typeface="Segoe UI"/>
              </a:rPr>
              <a:t>Area computed from the polygon itself via Shapely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3232" y="2923547"/>
            <a:ext cx="64008" cy="64008"/>
          </a:xfrm>
          <a:prstGeom prst="rect">
            <a:avLst/>
          </a:prstGeom>
          <a:solidFill>
            <a:srgbClr val="06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2844469"/>
            <a:ext cx="4937759" cy="2836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4A5A70"/>
                </a:solidFill>
                <a:latin typeface="Segoe UI"/>
              </a:rPr>
              <a:t>BR-9 fires beyond 15% polygon/record divergence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3262103"/>
            <a:ext cx="64008" cy="64008"/>
          </a:xfrm>
          <a:prstGeom prst="rect">
            <a:avLst/>
          </a:prstGeom>
          <a:solidFill>
            <a:srgbClr val="06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3183026"/>
            <a:ext cx="4937759" cy="2836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4A5A70"/>
                </a:solidFill>
                <a:latin typeface="Segoe UI"/>
              </a:rPr>
              <a:t>Neighbours within 400 m surfaced for disputes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886200"/>
            <a:ext cx="5486400" cy="2259711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3886200"/>
            <a:ext cx="5486400" cy="329184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3232" y="3950208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1">
                <a:solidFill>
                  <a:srgbClr val="16202E"/>
                </a:solidFill>
                <a:latin typeface="Segoe UI"/>
              </a:rPr>
              <a:t>Immutable audit trail (FR-12)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3232" y="4422477"/>
            <a:ext cx="64008" cy="64008"/>
          </a:xfrm>
          <a:prstGeom prst="rect">
            <a:avLst/>
          </a:prstGeom>
          <a:solidFill>
            <a:srgbClr val="06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4343400"/>
            <a:ext cx="4937759" cy="2836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4A5A70"/>
                </a:solidFill>
                <a:latin typeface="Segoe UI"/>
              </a:rPr>
              <a:t>Hash-chained — each entry hashes the previous one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13232" y="4761033"/>
            <a:ext cx="64008" cy="64008"/>
          </a:xfrm>
          <a:prstGeom prst="rect">
            <a:avLst/>
          </a:prstGeom>
          <a:solidFill>
            <a:srgbClr val="06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4681956"/>
            <a:ext cx="4937759" cy="2836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4A5A70"/>
                </a:solidFill>
                <a:latin typeface="Segoe UI"/>
              </a:rPr>
              <a:t>Tamper-evident — any edit breaks the chain, located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3232" y="5099590"/>
            <a:ext cx="64008" cy="64008"/>
          </a:xfrm>
          <a:prstGeom prst="rect">
            <a:avLst/>
          </a:prstGeom>
          <a:solidFill>
            <a:srgbClr val="06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" y="5020513"/>
            <a:ext cx="4937759" cy="2836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4A5A70"/>
                </a:solidFill>
                <a:latin typeface="Segoe UI"/>
              </a:rPr>
              <a:t>Complete — AI runs, corrections, approvals included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13232" y="5438147"/>
            <a:ext cx="64008" cy="64008"/>
          </a:xfrm>
          <a:prstGeom prst="rect">
            <a:avLst/>
          </a:prstGeom>
          <a:solidFill>
            <a:srgbClr val="06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359069"/>
            <a:ext cx="4937759" cy="2836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4A5A70"/>
                </a:solidFill>
                <a:latin typeface="Segoe UI"/>
              </a:rPr>
              <a:t>Old→new — both values + AI confidence kept per fix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13232" y="5776703"/>
            <a:ext cx="64008" cy="64008"/>
          </a:xfrm>
          <a:prstGeom prst="rect">
            <a:avLst/>
          </a:prstGeom>
          <a:solidFill>
            <a:srgbClr val="06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5697626"/>
            <a:ext cx="4937759" cy="2836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4A5A70"/>
                </a:solidFill>
                <a:latin typeface="Segoe UI"/>
              </a:rPr>
              <a:t>Verifiable — the chain recomputes from the Audit tab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1371600"/>
            <a:ext cx="5212080" cy="475488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29400" y="1536192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0A3D91"/>
                </a:solidFill>
                <a:latin typeface="Segoe UI"/>
              </a:rPr>
              <a:t>THE APPROVAL GUARANTEE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1828800"/>
            <a:ext cx="4754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0A3D91"/>
                </a:solidFill>
                <a:latin typeface="Segoe UI"/>
              </a:rPr>
              <a:t>A record with an open critical finding cannot be approved.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29400" y="2743200"/>
            <a:ext cx="47548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4A5A70"/>
                </a:solidFill>
                <a:latin typeface="Segoe UI"/>
              </a:rPr>
              <a:t>This is enforced in the API, so no interface — ours or a future integration — can bypass it.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>
                <a:solidFill>
                  <a:srgbClr val="16202E"/>
                </a:solidFill>
                <a:latin typeface="Segoe UI"/>
              </a:rPr>
              <a:t> 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4A5A70"/>
                </a:solidFill>
                <a:latin typeface="Segoe UI"/>
              </a:rPr>
              <a:t>In the live demo, approving the duplicate-khasra record returns: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600" b="0">
                <a:solidFill>
                  <a:srgbClr val="16202E"/>
                </a:solidFill>
                <a:latin typeface="Segoe UI"/>
              </a:rPr>
              <a:t> 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B02A37"/>
                </a:solidFill>
                <a:latin typeface="Segoe UI"/>
              </a:rPr>
              <a:t>HTTP 409 — Cannot approve: 1 critical discrepancy still open (BR-3). Resolve or reject instead.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800" b="0">
                <a:solidFill>
                  <a:srgbClr val="16202E"/>
                </a:solidFill>
                <a:latin typeface="Segoe UI"/>
              </a:rPr>
              <a:t> 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4A5A70"/>
                </a:solidFill>
                <a:latin typeface="Segoe UI"/>
              </a:rPr>
              <a:t>The officer can escalate it to the Tehsildar, reject it, or correct the underlying data. What they cannot do is wave it through.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44652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B8798"/>
                </a:solidFill>
                <a:latin typeface="Segoe UI"/>
              </a:rPr>
              <a:t>BhuVerify · SIH26018 · Team Shadow Slayers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789920" y="644652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B8798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27432"/>
          </a:xfrm>
          <a:prstGeom prst="rect">
            <a:avLst/>
          </a:prstGeom>
          <a:solidFill>
            <a:srgbClr val="0A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062A63"/>
                </a:solidFill>
                <a:latin typeface="Segoe U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500" b="1">
                <a:solidFill>
                  <a:srgbClr val="16202E"/>
                </a:solidFill>
                <a:latin typeface="Segoe UI"/>
              </a:rPr>
              <a:t>Built to be handed over, not thrown away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8638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7B8798"/>
                </a:solidFill>
                <a:latin typeface="Segoe UI"/>
              </a:rPr>
              <a:t>The prototype keeps the same contracts the pilot and production tiers need.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11064240" cy="365760"/>
          </a:xfrm>
          <a:prstGeom prst="rect">
            <a:avLst/>
          </a:prstGeom>
          <a:solidFill>
            <a:srgbClr val="0A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453896"/>
            <a:ext cx="192023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Segoe UI"/>
              </a:rPr>
              <a:t>CONCERN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61488" y="1453896"/>
            <a:ext cx="283463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Segoe UI"/>
              </a:rPr>
              <a:t>PROTOTYPE (TODAY)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79007" y="1453896"/>
            <a:ext cx="292607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Segoe UI"/>
              </a:rPr>
              <a:t>PILOT / PRODUCTION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87967" y="1453896"/>
            <a:ext cx="2651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Segoe UI"/>
              </a:rPr>
              <a:t>WHAT CHANGES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737360"/>
            <a:ext cx="11064240" cy="475488"/>
          </a:xfrm>
          <a:prstGeom prst="rect">
            <a:avLst/>
          </a:prstGeom>
          <a:solidFill>
            <a:srgbClr val="F7F9FB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65376"/>
            <a:ext cx="19202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16202E"/>
                </a:solidFill>
                <a:latin typeface="Segoe UI"/>
              </a:rPr>
              <a:t>Database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61488" y="1865376"/>
            <a:ext cx="28346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>
                <a:solidFill>
                  <a:srgbClr val="4A5A70"/>
                </a:solidFill>
                <a:latin typeface="Segoe UI"/>
              </a:rPr>
              <a:t>SQLite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79007" y="1865376"/>
            <a:ext cx="29260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>
                <a:solidFill>
                  <a:srgbClr val="4A5A70"/>
                </a:solidFill>
                <a:latin typeface="Segoe UI"/>
              </a:rPr>
              <a:t>PostgreSQL + PostGIS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87967" y="186537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>
                <a:solidFill>
                  <a:srgbClr val="4A5A70"/>
                </a:solidFill>
                <a:latin typeface="Segoe UI"/>
              </a:rPr>
              <a:t>change the connection URL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212848"/>
            <a:ext cx="11064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2340864"/>
            <a:ext cx="19202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16202E"/>
                </a:solidFill>
                <a:latin typeface="Segoe UI"/>
              </a:rPr>
              <a:t>Queue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61488" y="2340864"/>
            <a:ext cx="28346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>
                <a:solidFill>
                  <a:srgbClr val="4A5A70"/>
                </a:solidFill>
                <a:latin typeface="Segoe UI"/>
              </a:rPr>
              <a:t>in-process thread worker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79007" y="2340864"/>
            <a:ext cx="29260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>
                <a:solidFill>
                  <a:srgbClr val="4A5A70"/>
                </a:solidFill>
                <a:latin typeface="Segoe UI"/>
              </a:rPr>
              <a:t>Redis / Celery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87967" y="234086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>
                <a:solidFill>
                  <a:srgbClr val="4A5A70"/>
                </a:solidFill>
                <a:latin typeface="Segoe UI"/>
              </a:rPr>
              <a:t>stage names already match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2688336"/>
            <a:ext cx="11064240" cy="475488"/>
          </a:xfrm>
          <a:prstGeom prst="rect">
            <a:avLst/>
          </a:prstGeom>
          <a:solidFill>
            <a:srgbClr val="F7F9FB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2816352"/>
            <a:ext cx="19202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16202E"/>
                </a:solidFill>
                <a:latin typeface="Segoe UI"/>
              </a:rPr>
              <a:t>OCR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61488" y="2816352"/>
            <a:ext cx="28346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>
                <a:solidFill>
                  <a:srgbClr val="4A5A70"/>
                </a:solidFill>
                <a:latin typeface="Segoe UI"/>
              </a:rPr>
              <a:t>Tesseract 5 (eng/hin/ori)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79007" y="2816352"/>
            <a:ext cx="29260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>
                <a:solidFill>
                  <a:srgbClr val="4A5A70"/>
                </a:solidFill>
                <a:latin typeface="Segoe UI"/>
              </a:rPr>
              <a:t>fine-tuned OCR models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87967" y="281635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>
                <a:solidFill>
                  <a:srgbClr val="4A5A70"/>
                </a:solidFill>
                <a:latin typeface="Segoe UI"/>
              </a:rPr>
              <a:t>same word-token contract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3163824"/>
            <a:ext cx="11064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3291840"/>
            <a:ext cx="19202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16202E"/>
                </a:solidFill>
                <a:latin typeface="Segoe UI"/>
              </a:rPr>
              <a:t>HTR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61488" y="3291840"/>
            <a:ext cx="28346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>
                <a:solidFill>
                  <a:srgbClr val="4A5A70"/>
                </a:solidFill>
                <a:latin typeface="Segoe UI"/>
              </a:rPr>
              <a:t>Tesseract + OpenCV chain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79007" y="3291840"/>
            <a:ext cx="29260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>
                <a:solidFill>
                  <a:srgbClr val="4A5A70"/>
                </a:solidFill>
                <a:latin typeface="Segoe UI"/>
              </a:rPr>
              <a:t>TrOCR / IndicHTR transformer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87967" y="32918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>
                <a:solidFill>
                  <a:srgbClr val="4A5A70"/>
                </a:solidFill>
                <a:latin typeface="Segoe UI"/>
              </a:rPr>
              <a:t>same WordToken contract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3639312"/>
            <a:ext cx="11064240" cy="475488"/>
          </a:xfrm>
          <a:prstGeom prst="rect">
            <a:avLst/>
          </a:prstGeom>
          <a:solidFill>
            <a:srgbClr val="F7F9FB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" y="3767328"/>
            <a:ext cx="19202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16202E"/>
                </a:solidFill>
                <a:latin typeface="Segoe UI"/>
              </a:rPr>
              <a:t>Layout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61488" y="3767328"/>
            <a:ext cx="28346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>
                <a:solidFill>
                  <a:srgbClr val="4A5A70"/>
                </a:solidFill>
                <a:latin typeface="Segoe UI"/>
              </a:rPr>
              <a:t>OpenCV heuristics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79007" y="3767328"/>
            <a:ext cx="29260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>
                <a:solidFill>
                  <a:srgbClr val="4A5A70"/>
                </a:solidFill>
                <a:latin typeface="Segoe UI"/>
              </a:rPr>
              <a:t>YOLO / Detectron2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87967" y="376732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>
                <a:solidFill>
                  <a:srgbClr val="4A5A70"/>
                </a:solidFill>
                <a:latin typeface="Segoe UI"/>
              </a:rPr>
              <a:t>same labelled-box output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4114800"/>
            <a:ext cx="11064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4242816"/>
            <a:ext cx="19202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16202E"/>
                </a:solidFill>
                <a:latin typeface="Segoe UI"/>
              </a:rPr>
              <a:t>External systems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61488" y="4242816"/>
            <a:ext cx="28346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>
                <a:solidFill>
                  <a:srgbClr val="4A5A70"/>
                </a:solidFill>
                <a:latin typeface="Segoe UI"/>
              </a:rPr>
              <a:t>deterministic mocks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779007" y="4242816"/>
            <a:ext cx="29260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>
                <a:solidFill>
                  <a:srgbClr val="4A5A70"/>
                </a:solidFill>
                <a:latin typeface="Segoe UI"/>
              </a:rPr>
              <a:t>read-only government APIs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87967" y="424281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>
                <a:solidFill>
                  <a:srgbClr val="4A5A70"/>
                </a:solidFill>
                <a:latin typeface="Segoe UI"/>
              </a:rPr>
              <a:t>same ExternalCheck contract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" y="4590288"/>
            <a:ext cx="11064240" cy="475488"/>
          </a:xfrm>
          <a:prstGeom prst="rect">
            <a:avLst/>
          </a:prstGeom>
          <a:solidFill>
            <a:srgbClr val="F7F9FB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4718303"/>
            <a:ext cx="19202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16202E"/>
                </a:solidFill>
                <a:latin typeface="Segoe UI"/>
              </a:rPr>
              <a:t>Auth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61488" y="4718303"/>
            <a:ext cx="28346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>
                <a:solidFill>
                  <a:srgbClr val="4A5A70"/>
                </a:solidFill>
                <a:latin typeface="Segoe UI"/>
              </a:rPr>
              <a:t>seeded accounts + argon2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779007" y="4718303"/>
            <a:ext cx="29260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>
                <a:solidFill>
                  <a:srgbClr val="4A5A70"/>
                </a:solidFill>
                <a:latin typeface="Segoe UI"/>
              </a:rPr>
              <a:t>department SSO + MFA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887967" y="4718303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>
                <a:solidFill>
                  <a:srgbClr val="4A5A70"/>
                </a:solidFill>
                <a:latin typeface="Segoe UI"/>
              </a:rPr>
              <a:t>routes only see a User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48640" y="5065776"/>
            <a:ext cx="11064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8368" y="5193792"/>
            <a:ext cx="19202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16202E"/>
                </a:solidFill>
                <a:latin typeface="Segoe UI"/>
              </a:rPr>
              <a:t>GIS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61488" y="5193792"/>
            <a:ext cx="28346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>
                <a:solidFill>
                  <a:srgbClr val="4A5A70"/>
                </a:solidFill>
                <a:latin typeface="Segoe UI"/>
              </a:rPr>
              <a:t>sample GeoJSON + inline SVG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779007" y="5193792"/>
            <a:ext cx="29260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>
                <a:solidFill>
                  <a:srgbClr val="4A5A70"/>
                </a:solidFill>
                <a:latin typeface="Segoe UI"/>
              </a:rPr>
              <a:t>GeoServer + PostGIS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887967" y="519379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0">
                <a:solidFill>
                  <a:srgbClr val="4A5A70"/>
                </a:solidFill>
                <a:latin typeface="Segoe UI"/>
              </a:rPr>
              <a:t>same polygon contract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8640" y="571500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1">
                <a:solidFill>
                  <a:srgbClr val="16202E"/>
                </a:solidFill>
                <a:latin typeface="Segoe UI"/>
              </a:rPr>
              <a:t>Stack: 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4A5A70"/>
                </a:solidFill>
                <a:latin typeface="Segoe UI"/>
              </a:rPr>
              <a:t>FastAPI · SQLAlchemy · OpenCV · Tesseract 5 · Shapely · rapidfuzz · argon2. The console is vanilla JS with no build step and no CDN dependencies, so it runs unchanged on an air-gapped government intranet.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8640" y="644652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B8798"/>
                </a:solidFill>
                <a:latin typeface="Segoe UI"/>
              </a:rPr>
              <a:t>BhuVerify · SIH26018 · Team Shadow Slayers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789920" y="644652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B8798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27432"/>
          </a:xfrm>
          <a:prstGeom prst="rect">
            <a:avLst/>
          </a:prstGeom>
          <a:solidFill>
            <a:srgbClr val="0A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062A63"/>
                </a:solidFill>
                <a:latin typeface="Segoe UI"/>
              </a:rPr>
              <a:t>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500" b="1">
                <a:solidFill>
                  <a:srgbClr val="16202E"/>
                </a:solidFill>
                <a:latin typeface="Segoe UI"/>
              </a:rPr>
              <a:t>From hackathon table to state deployment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8638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7B8798"/>
                </a:solidFill>
                <a:latin typeface="Segoe UI"/>
              </a:rPr>
              <a:t>Three tiers, each with a concrete exit criterion rather than a wish list.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361188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371600"/>
            <a:ext cx="3611880" cy="566928"/>
          </a:xfrm>
          <a:prstGeom prst="rect">
            <a:avLst/>
          </a:prstGeom>
          <a:solidFill>
            <a:srgbClr val="06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63040"/>
            <a:ext cx="2286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Segoe UI"/>
              </a:rPr>
              <a:t>PHASE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2651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Segoe UI"/>
              </a:rPr>
              <a:t>Hackathon prototype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3280" y="1490472"/>
            <a:ext cx="621792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0" y="1517904"/>
            <a:ext cx="62179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062A63"/>
                </a:solidFill>
                <a:latin typeface="Segoe UI"/>
              </a:rPr>
              <a:t>DONE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2224479"/>
            <a:ext cx="64008" cy="64008"/>
          </a:xfrm>
          <a:prstGeom prst="rect">
            <a:avLst/>
          </a:prstGeom>
          <a:solidFill>
            <a:srgbClr val="06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2148840"/>
            <a:ext cx="3072384" cy="2729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4A5A70"/>
                </a:solidFill>
                <a:latin typeface="Segoe UI"/>
              </a:rPr>
              <a:t>Real OCR in English, Hindi and Odia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2753459"/>
            <a:ext cx="64008" cy="64008"/>
          </a:xfrm>
          <a:prstGeom prst="rect">
            <a:avLst/>
          </a:prstGeom>
          <a:solidFill>
            <a:srgbClr val="06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0976" y="2677820"/>
            <a:ext cx="3072384" cy="2729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4A5A70"/>
                </a:solidFill>
                <a:latin typeface="Segoe UI"/>
              </a:rPr>
              <a:t>19-field extraction with confidence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3282439"/>
            <a:ext cx="64008" cy="64008"/>
          </a:xfrm>
          <a:prstGeom prst="rect">
            <a:avLst/>
          </a:prstGeom>
          <a:solidFill>
            <a:srgbClr val="06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0976" y="3206800"/>
            <a:ext cx="3072384" cy="2729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4A5A70"/>
                </a:solidFill>
                <a:latin typeface="Segoe UI"/>
              </a:rPr>
              <a:t>All ten business rules firing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3811420"/>
            <a:ext cx="64008" cy="64008"/>
          </a:xfrm>
          <a:prstGeom prst="rect">
            <a:avLst/>
          </a:prstGeom>
          <a:solidFill>
            <a:srgbClr val="06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3735781"/>
            <a:ext cx="3072384" cy="2729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4A5A70"/>
                </a:solidFill>
                <a:latin typeface="Segoe UI"/>
              </a:rPr>
              <a:t>Reviewer console + audit chain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4340400"/>
            <a:ext cx="64008" cy="64008"/>
          </a:xfrm>
          <a:prstGeom prst="rect">
            <a:avLst/>
          </a:prstGeom>
          <a:solidFill>
            <a:srgbClr val="06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0976" y="4264761"/>
            <a:ext cx="3072384" cy="2729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4A5A70"/>
                </a:solidFill>
                <a:latin typeface="Segoe UI"/>
              </a:rPr>
              <a:t>Sample cadastral layer + SVG map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4869381"/>
            <a:ext cx="64008" cy="64008"/>
          </a:xfrm>
          <a:prstGeom prst="rect">
            <a:avLst/>
          </a:prstGeom>
          <a:solidFill>
            <a:srgbClr val="06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0976" y="4793742"/>
            <a:ext cx="3072384" cy="2729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4A5A70"/>
                </a:solidFill>
                <a:latin typeface="Segoe UI"/>
              </a:rPr>
              <a:t>101 automated tests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43400" y="1371600"/>
            <a:ext cx="361188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43400" y="1371600"/>
            <a:ext cx="3611880" cy="56692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26280" y="1463040"/>
            <a:ext cx="2286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Segoe UI"/>
              </a:rPr>
              <a:t>PHASE 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26280" y="1645920"/>
            <a:ext cx="2651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Segoe UI"/>
              </a:rPr>
              <a:t>District pilot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178040" y="1490472"/>
            <a:ext cx="621792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78040" y="1517904"/>
            <a:ext cx="62179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D97706"/>
                </a:solidFill>
                <a:latin typeface="Segoe UI"/>
              </a:rPr>
              <a:t>NEXT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26280" y="2224479"/>
            <a:ext cx="64008" cy="64008"/>
          </a:xfrm>
          <a:prstGeom prst="rect">
            <a:avLst/>
          </a:prstGeom>
          <a:solidFill>
            <a:srgbClr val="06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45736" y="2148840"/>
            <a:ext cx="3072384" cy="509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4A5A70"/>
                </a:solidFill>
                <a:latin typeface="Segoe UI"/>
              </a:rPr>
              <a:t>Real district records, GPU-backed OCR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26280" y="2989831"/>
            <a:ext cx="64008" cy="64008"/>
          </a:xfrm>
          <a:prstGeom prst="rect">
            <a:avLst/>
          </a:prstGeom>
          <a:solidFill>
            <a:srgbClr val="06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45736" y="2914192"/>
            <a:ext cx="3072384" cy="509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4A5A70"/>
                </a:solidFill>
                <a:latin typeface="Segoe UI"/>
              </a:rPr>
              <a:t>Department SSO + district data scoping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26280" y="3755184"/>
            <a:ext cx="64008" cy="64008"/>
          </a:xfrm>
          <a:prstGeom prst="rect">
            <a:avLst/>
          </a:prstGeom>
          <a:solidFill>
            <a:srgbClr val="06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745736" y="3679545"/>
            <a:ext cx="3072384" cy="2729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4A5A70"/>
                </a:solidFill>
                <a:latin typeface="Segoe UI"/>
              </a:rPr>
              <a:t>Read-only Bhulekh / BhuNaksha links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26280" y="4284165"/>
            <a:ext cx="64008" cy="64008"/>
          </a:xfrm>
          <a:prstGeom prst="rect">
            <a:avLst/>
          </a:prstGeom>
          <a:solidFill>
            <a:srgbClr val="06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45736" y="4208526"/>
            <a:ext cx="3072384" cy="2729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4A5A70"/>
                </a:solidFill>
                <a:latin typeface="Segoe UI"/>
              </a:rPr>
              <a:t>Fine-tune OCR/NER on corrections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26280" y="4813145"/>
            <a:ext cx="64008" cy="64008"/>
          </a:xfrm>
          <a:prstGeom prst="rect">
            <a:avLst/>
          </a:prstGeom>
          <a:solidFill>
            <a:srgbClr val="06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45736" y="4737506"/>
            <a:ext cx="3072384" cy="2729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4A5A70"/>
                </a:solidFill>
                <a:latin typeface="Segoe UI"/>
              </a:rPr>
              <a:t>Multi-user review workflow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26280" y="5342125"/>
            <a:ext cx="64008" cy="64008"/>
          </a:xfrm>
          <a:prstGeom prst="rect">
            <a:avLst/>
          </a:prstGeom>
          <a:solidFill>
            <a:srgbClr val="06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745736" y="5266486"/>
            <a:ext cx="3072384" cy="2729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4A5A70"/>
                </a:solidFill>
                <a:latin typeface="Segoe UI"/>
              </a:rPr>
              <a:t>Centralised logging and monitoring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138160" y="1371600"/>
            <a:ext cx="361188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138160" y="1371600"/>
            <a:ext cx="3611880" cy="566928"/>
          </a:xfrm>
          <a:prstGeom prst="rect">
            <a:avLst/>
          </a:prstGeom>
          <a:solidFill>
            <a:srgbClr val="7B87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21040" y="1463040"/>
            <a:ext cx="2286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Segoe UI"/>
              </a:rPr>
              <a:t>PHASE 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21040" y="1645920"/>
            <a:ext cx="2651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Segoe UI"/>
              </a:rPr>
              <a:t>State / national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972800" y="1490472"/>
            <a:ext cx="621792" cy="2377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972800" y="1517904"/>
            <a:ext cx="62179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7B8798"/>
                </a:solidFill>
                <a:latin typeface="Segoe UI"/>
              </a:rPr>
              <a:t>TARGET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321040" y="2224479"/>
            <a:ext cx="64008" cy="64008"/>
          </a:xfrm>
          <a:prstGeom prst="rect">
            <a:avLst/>
          </a:prstGeom>
          <a:solidFill>
            <a:srgbClr val="06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540496" y="2148840"/>
            <a:ext cx="3072384" cy="509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4A5A70"/>
                </a:solidFill>
                <a:latin typeface="Segoe UI"/>
              </a:rPr>
              <a:t>Multi-district, multi-language rollout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321040" y="2989831"/>
            <a:ext cx="64008" cy="64008"/>
          </a:xfrm>
          <a:prstGeom prst="rect">
            <a:avLst/>
          </a:prstGeom>
          <a:solidFill>
            <a:srgbClr val="06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540496" y="2914192"/>
            <a:ext cx="3072384" cy="2729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4A5A70"/>
                </a:solidFill>
                <a:latin typeface="Segoe UI"/>
              </a:rPr>
              <a:t>Full LRMS / DILRMP integration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321040" y="3518812"/>
            <a:ext cx="64008" cy="64008"/>
          </a:xfrm>
          <a:prstGeom prst="rect">
            <a:avLst/>
          </a:prstGeom>
          <a:solidFill>
            <a:srgbClr val="06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540496" y="3443173"/>
            <a:ext cx="3072384" cy="509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4A5A70"/>
                </a:solidFill>
                <a:latin typeface="Segoe UI"/>
              </a:rPr>
              <a:t>PostGIS + GeoServer cadastral serving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321040" y="4284165"/>
            <a:ext cx="64008" cy="64008"/>
          </a:xfrm>
          <a:prstGeom prst="rect">
            <a:avLst/>
          </a:prstGeom>
          <a:solidFill>
            <a:srgbClr val="06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540496" y="4208526"/>
            <a:ext cx="3072384" cy="2729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4A5A70"/>
                </a:solidFill>
                <a:latin typeface="Segoe UI"/>
              </a:rPr>
              <a:t>Governed write-back where approved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321040" y="4813145"/>
            <a:ext cx="64008" cy="64008"/>
          </a:xfrm>
          <a:prstGeom prst="rect">
            <a:avLst/>
          </a:prstGeom>
          <a:solidFill>
            <a:srgbClr val="06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540496" y="4737506"/>
            <a:ext cx="3072384" cy="2729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4A5A70"/>
                </a:solidFill>
                <a:latin typeface="Segoe UI"/>
              </a:rPr>
              <a:t>DPDP-compliant data handling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321040" y="5342125"/>
            <a:ext cx="64008" cy="64008"/>
          </a:xfrm>
          <a:prstGeom prst="rect">
            <a:avLst/>
          </a:prstGeom>
          <a:solidFill>
            <a:srgbClr val="06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540496" y="5266486"/>
            <a:ext cx="3072384" cy="2729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4A5A70"/>
                </a:solidFill>
                <a:latin typeface="Segoe UI"/>
              </a:rPr>
              <a:t>National-level MIS dashboard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48640" y="644652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B8798"/>
                </a:solidFill>
                <a:latin typeface="Segoe UI"/>
              </a:rPr>
              <a:t>BhuVerify · SIH26018 · Team Shadow Slayers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789920" y="644652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B8798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27432"/>
          </a:xfrm>
          <a:prstGeom prst="rect">
            <a:avLst/>
          </a:prstGeom>
          <a:solidFill>
            <a:srgbClr val="0A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50" b="1">
                <a:solidFill>
                  <a:srgbClr val="062A63"/>
                </a:solidFill>
                <a:latin typeface="Segoe UI"/>
              </a:rPr>
              <a:t>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500" b="1">
                <a:solidFill>
                  <a:srgbClr val="16202E"/>
                </a:solidFill>
                <a:latin typeface="Segoe UI"/>
              </a:rPr>
              <a:t>Impact: what changes for citizens and for the department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8638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7B8798"/>
                </a:solidFill>
                <a:latin typeface="Segoe UI"/>
              </a:rPr>
              <a:t>The mechanism is fewer manual keystrokes; the outcome is fewer disputes.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5486400" cy="2259711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371600"/>
            <a:ext cx="5486400" cy="329184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435608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1">
                <a:solidFill>
                  <a:srgbClr val="16202E"/>
                </a:solidFill>
                <a:latin typeface="Segoe UI"/>
              </a:rPr>
              <a:t>For citizens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" y="1907877"/>
            <a:ext cx="64008" cy="64008"/>
          </a:xfrm>
          <a:prstGeom prst="rect">
            <a:avLst/>
          </a:prstGeom>
          <a:solidFill>
            <a:srgbClr val="06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1828800"/>
            <a:ext cx="4937759" cy="2836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4A5A70"/>
                </a:solidFill>
                <a:latin typeface="Segoe UI"/>
              </a:rPr>
              <a:t>Faster mutations — less time to an updated record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" y="2246433"/>
            <a:ext cx="64008" cy="64008"/>
          </a:xfrm>
          <a:prstGeom prst="rect">
            <a:avLst/>
          </a:prstGeom>
          <a:solidFill>
            <a:srgbClr val="06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2167356"/>
            <a:ext cx="4937759" cy="2836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4A5A70"/>
                </a:solidFill>
                <a:latin typeface="Segoe UI"/>
              </a:rPr>
              <a:t>Fewer errors — validation catches what operators miss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2584990"/>
            <a:ext cx="64008" cy="64008"/>
          </a:xfrm>
          <a:prstGeom prst="rect">
            <a:avLst/>
          </a:prstGeom>
          <a:solidFill>
            <a:srgbClr val="06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2505913"/>
            <a:ext cx="4937759" cy="2836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4A5A70"/>
                </a:solidFill>
                <a:latin typeface="Segoe UI"/>
              </a:rPr>
              <a:t>Fewer disputes — conflicting owners surfaced early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3232" y="2923547"/>
            <a:ext cx="64008" cy="64008"/>
          </a:xfrm>
          <a:prstGeom prst="rect">
            <a:avLst/>
          </a:prstGeom>
          <a:solidFill>
            <a:srgbClr val="06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2844469"/>
            <a:ext cx="4937759" cy="2836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4A5A70"/>
                </a:solidFill>
                <a:latin typeface="Segoe UI"/>
              </a:rPr>
              <a:t>Transparency — verified record with a traceable history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3262103"/>
            <a:ext cx="64008" cy="64008"/>
          </a:xfrm>
          <a:prstGeom prst="rect">
            <a:avLst/>
          </a:prstGeom>
          <a:solidFill>
            <a:srgbClr val="06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3183026"/>
            <a:ext cx="4937759" cy="2836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4A5A70"/>
                </a:solidFill>
                <a:latin typeface="Segoe UI"/>
              </a:rPr>
              <a:t>Better services — clean data unblocks credit &amp; schemes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840480"/>
            <a:ext cx="5486400" cy="2506827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3840480"/>
            <a:ext cx="5486400" cy="329184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3232" y="3904488"/>
            <a:ext cx="5212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1">
                <a:solidFill>
                  <a:srgbClr val="16202E"/>
                </a:solidFill>
                <a:latin typeface="Segoe UI"/>
              </a:rPr>
              <a:t>For the department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3232" y="4376757"/>
            <a:ext cx="64008" cy="64008"/>
          </a:xfrm>
          <a:prstGeom prst="rect">
            <a:avLst/>
          </a:prstGeom>
          <a:solidFill>
            <a:srgbClr val="06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4297680"/>
            <a:ext cx="4937759" cy="2836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4A5A70"/>
                </a:solidFill>
                <a:latin typeface="Segoe UI"/>
              </a:rPr>
              <a:t>Workload — officers verify instead of transcribing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13232" y="4715313"/>
            <a:ext cx="64008" cy="64008"/>
          </a:xfrm>
          <a:prstGeom prst="rect">
            <a:avLst/>
          </a:prstGeom>
          <a:solidFill>
            <a:srgbClr val="06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4636236"/>
            <a:ext cx="4937759" cy="2836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4A5A70"/>
                </a:solidFill>
                <a:latin typeface="Segoe UI"/>
              </a:rPr>
              <a:t>Monitoring — live MIS on progress and reviewer load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3232" y="5053870"/>
            <a:ext cx="64008" cy="64008"/>
          </a:xfrm>
          <a:prstGeom prst="rect">
            <a:avLst/>
          </a:prstGeom>
          <a:solidFill>
            <a:srgbClr val="06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" y="4974793"/>
            <a:ext cx="4937759" cy="2836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4A5A70"/>
                </a:solidFill>
                <a:latin typeface="Segoe UI"/>
              </a:rPr>
              <a:t>Auditability — every action attributable and reversible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13232" y="5392427"/>
            <a:ext cx="64008" cy="64008"/>
          </a:xfrm>
          <a:prstGeom prst="rect">
            <a:avLst/>
          </a:prstGeom>
          <a:solidFill>
            <a:srgbClr val="06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5313349"/>
            <a:ext cx="4937759" cy="5308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4A5A70"/>
                </a:solidFill>
                <a:latin typeface="Segoe UI"/>
              </a:rPr>
              <a:t>DILRMP alignment — records become digitised, geo-referenced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13232" y="5978100"/>
            <a:ext cx="64008" cy="64008"/>
          </a:xfrm>
          <a:prstGeom prst="rect">
            <a:avLst/>
          </a:prstGeom>
          <a:solidFill>
            <a:srgbClr val="062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5899023"/>
            <a:ext cx="4937759" cy="2836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4A5A70"/>
                </a:solidFill>
                <a:latin typeface="Segoe UI"/>
              </a:rPr>
              <a:t>Institutional memory — corrections become training data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1371600"/>
            <a:ext cx="5212080" cy="4754880"/>
          </a:xfrm>
          <a:prstGeom prst="rect">
            <a:avLst/>
          </a:prstGeom>
          <a:solidFill>
            <a:srgbClr val="E8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29400" y="1536192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1">
                <a:solidFill>
                  <a:srgbClr val="0A3D91"/>
                </a:solidFill>
                <a:latin typeface="Segoe UI"/>
              </a:rPr>
              <a:t>MEASURED ON THIS PROTOTYPE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1920240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1">
                <a:solidFill>
                  <a:srgbClr val="0A3D91"/>
                </a:solidFill>
                <a:latin typeface="Segoe UI"/>
              </a:rPr>
              <a:t>13.2s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92440" y="1956816"/>
            <a:ext cx="3291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4A5A70"/>
                </a:solidFill>
                <a:latin typeface="Segoe UI"/>
              </a:rPr>
              <a:t>to take a scan from upload to a validated, GIS-linked, review-ready record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29400" y="2880360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1">
                <a:solidFill>
                  <a:srgbClr val="0A3D91"/>
                </a:solidFill>
                <a:latin typeface="Segoe UI"/>
              </a:rPr>
              <a:t>72%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92440" y="2916936"/>
            <a:ext cx="3291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4A5A70"/>
                </a:solidFill>
                <a:latin typeface="Segoe UI"/>
              </a:rPr>
              <a:t>mean extraction confidence before any human touches it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29400" y="3840480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1">
                <a:solidFill>
                  <a:srgbClr val="0A3D91"/>
                </a:solidFill>
                <a:latin typeface="Segoe UI"/>
              </a:rPr>
              <a:t>31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92440" y="3877056"/>
            <a:ext cx="3291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4A5A70"/>
                </a:solidFill>
                <a:latin typeface="Segoe UI"/>
              </a:rPr>
              <a:t>issues caught automatically across 6 documents — none found by a human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4800600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100" b="1">
                <a:solidFill>
                  <a:srgbClr val="0A3D91"/>
                </a:solidFill>
                <a:latin typeface="Segoe UI"/>
              </a:rPr>
              <a:t>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92440" y="4837176"/>
            <a:ext cx="3291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4A5A70"/>
                </a:solidFill>
                <a:latin typeface="Segoe UI"/>
              </a:rPr>
              <a:t>critical title conflict caught that a manual workflow would likely have missed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29400" y="5760720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>
                <a:solidFill>
                  <a:srgbClr val="0A3D91"/>
                </a:solidFill>
                <a:latin typeface="Segoe UI"/>
              </a:rPr>
              <a:t>Target for pilot: 70–80% reduction in manual digitisation effort.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644652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B8798"/>
                </a:solidFill>
                <a:latin typeface="Segoe UI"/>
              </a:rPr>
              <a:t>BhuVerify · SIH26018 · Team Shadow Slayers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89920" y="644652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7B8798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822960"/>
            <a:ext cx="1280160" cy="4114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4800" b="1">
                <a:solidFill>
                  <a:srgbClr val="FFFFFF"/>
                </a:solidFill>
                <a:latin typeface="Segoe UI"/>
              </a:rPr>
              <a:t>BhuVerify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5740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900" b="0">
                <a:solidFill>
                  <a:srgbClr val="D8ECE5"/>
                </a:solidFill>
                <a:latin typeface="Segoe UI"/>
              </a:rPr>
              <a:t>We did not build an OCR demo. We built the verification layer that sits between a scanned register and a land record a citizen can rely 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337560"/>
            <a:ext cx="73152" cy="7315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24612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Segoe UI"/>
              </a:rPr>
              <a:t>It is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3264408"/>
            <a:ext cx="8412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C9E4DB"/>
                </a:solidFill>
                <a:latin typeface="Segoe UI"/>
              </a:rPr>
              <a:t>genuine Tesseract OCR in three scripts on rendered documents, not canned output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886199"/>
            <a:ext cx="73152" cy="7315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794759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Segoe UI"/>
              </a:rPr>
              <a:t>It is honest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3813047"/>
            <a:ext cx="8412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C9E4DB"/>
                </a:solidFill>
                <a:latin typeface="Segoe UI"/>
              </a:rPr>
              <a:t>confidence is computed and shown; handwritten pages score lower, as they should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434840"/>
            <a:ext cx="73152" cy="7315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Segoe UI"/>
              </a:rPr>
              <a:t>It is safe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4361688"/>
            <a:ext cx="8412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C9E4DB"/>
                </a:solidFill>
                <a:latin typeface="Segoe UI"/>
              </a:rPr>
              <a:t>critical findings block approval server-side; a human always decides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983479"/>
            <a:ext cx="73152" cy="7315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89204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Segoe UI"/>
              </a:rPr>
              <a:t>It is accountable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4910327"/>
            <a:ext cx="8412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C9E4DB"/>
                </a:solidFill>
                <a:latin typeface="Segoe UI"/>
              </a:rPr>
              <a:t>every AI decision and human correction is in a tamper-evident chain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532119"/>
            <a:ext cx="73152" cy="7315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440679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Segoe UI"/>
              </a:rPr>
              <a:t>It is ready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5458967"/>
            <a:ext cx="8412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>
                <a:solidFill>
                  <a:srgbClr val="C9E4DB"/>
                </a:solidFill>
                <a:latin typeface="Segoe UI"/>
              </a:rPr>
              <a:t>contracts already match the pilot tier; 101 tests guard the behaviour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053328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>
                <a:solidFill>
                  <a:srgbClr val="8FC9B8"/>
                </a:solidFill>
                <a:latin typeface="Segoe UI"/>
              </a:rPr>
              <a:t>SIH26018 · Smart Automation · Team Shadow Slayers · working prototype available for live demonstration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